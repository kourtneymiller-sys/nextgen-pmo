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0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rtney Miller" userId="259b18c5-446d-4dd9-aa20-cb703c0c9350" providerId="ADAL" clId="{D18F23BD-F6F3-4FC7-9319-B364BE36A4F4}"/>
    <pc:docChg chg="custSel mod modSld">
      <pc:chgData name="Kourtney Miller" userId="259b18c5-446d-4dd9-aa20-cb703c0c9350" providerId="ADAL" clId="{D18F23BD-F6F3-4FC7-9319-B364BE36A4F4}" dt="2026-04-02T12:56:17.998" v="5" actId="478"/>
      <pc:docMkLst>
        <pc:docMk/>
      </pc:docMkLst>
      <pc:sldChg chg="delSp modSp mod">
        <pc:chgData name="Kourtney Miller" userId="259b18c5-446d-4dd9-aa20-cb703c0c9350" providerId="ADAL" clId="{D18F23BD-F6F3-4FC7-9319-B364BE36A4F4}" dt="2026-04-02T12:56:17.998" v="5" actId="478"/>
        <pc:sldMkLst>
          <pc:docMk/>
          <pc:sldMk cId="0" sldId="256"/>
        </pc:sldMkLst>
        <pc:spChg chg="del mod">
          <ac:chgData name="Kourtney Miller" userId="259b18c5-446d-4dd9-aa20-cb703c0c9350" providerId="ADAL" clId="{D18F23BD-F6F3-4FC7-9319-B364BE36A4F4}" dt="2026-04-02T12:56:17.998" v="5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16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30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32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33" creationId="{00000000-0000-0000-0000-000000000000}"/>
          </ac:spMkLst>
        </pc:spChg>
        <pc:spChg chg="mod">
          <ac:chgData name="Kourtney Miller" userId="259b18c5-446d-4dd9-aa20-cb703c0c9350" providerId="ADAL" clId="{D18F23BD-F6F3-4FC7-9319-B364BE36A4F4}" dt="2026-04-02T12:56:10.435" v="3" actId="2711"/>
          <ac:spMkLst>
            <pc:docMk/>
            <pc:sldMk cId="0" sldId="256"/>
            <ac:spMk id="3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64592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C220"/>
                </a:solidFill>
                <a:latin typeface="Everyday Sans" pitchFamily="2" charset="0"/>
              </a:rPr>
              <a:t>Wallkill, NY  |  NextGen Fulfillment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0053E2"/>
                </a:solidFill>
                <a:latin typeface="Everyday Sans" pitchFamily="2" charset="0"/>
              </a:rPr>
              <a:t>Key Strategic Questions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66666"/>
                </a:solidFill>
                <a:latin typeface="Everyday Sans" pitchFamily="2" charset="0"/>
              </a:rPr>
              <a:t>Executive Decision Brief  |  Capital Commitment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7295" cy="228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  <a:latin typeface="Everyday Sans" pitchFamily="2" charset="0"/>
              </a:rPr>
              <a:t>KEY STRATEGIC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17904"/>
            <a:ext cx="5394960" cy="2286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581912"/>
            <a:ext cx="50292" cy="11155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7492" y="158191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Risk Tolerance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5623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Are we aligned on the $65M-$200M incentive exposure and comfortable with the political path required to de-risk it?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0632"/>
            <a:ext cx="50292" cy="11155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" y="277063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284378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Go-Live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04495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Can the business absorb a May FY31 go-live (shifted from Nov FY30) given network planning and demand forecasts?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59352"/>
            <a:ext cx="50292" cy="11155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7492" y="395935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403250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Site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23367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Do we confirm Wallkill as the preferred Northeast NextGen site, locking in the strategy and capital plan?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48072"/>
            <a:ext cx="50292" cy="111556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492" y="514807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Political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42239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Are we committed to 100% union construction labor as the primary lever to secure Governor support and protect incentives?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261872"/>
            <a:ext cx="22860" cy="521208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0" y="1261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  <a:latin typeface="Everyday Sans" pitchFamily="2" charset="0"/>
              </a:rPr>
              <a:t>KEY TAKEAWAYS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17904"/>
            <a:ext cx="5394960" cy="2286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17920" y="1581912"/>
            <a:ext cx="50292" cy="11155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68212" y="158191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82512" y="165506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Wallkill remains the preferred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185623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Superior network fit and overall value vs. all alternatives for the Northeast NextGen network.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770632"/>
            <a:ext cx="50292" cy="11155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68212" y="277063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82512" y="284378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A clear navigation path exists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04495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Administrative moratorium exemption avoids the volatility of a public vote, keeping the decision with aligned officials.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59352"/>
            <a:ext cx="50292" cy="11155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68212" y="3959352"/>
            <a:ext cx="5344668" cy="111556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82512" y="403250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3E2"/>
                </a:solidFill>
                <a:latin typeface="Everyday Sans" pitchFamily="2" charset="0"/>
              </a:rPr>
              <a:t>Union labor is the political shield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23367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Everyday Sans" pitchFamily="2" charset="0"/>
              </a:rPr>
              <a:t>100% union construction labor provides leverage with the Governor to secure both the exemption and incentive commitments.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48072"/>
            <a:ext cx="5394960" cy="82296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82512" y="5221224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20"/>
                </a:solidFill>
                <a:latin typeface="Everyday Sans" pitchFamily="2" charset="0"/>
              </a:rPr>
              <a:t>Ask of Leadership: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422392"/>
            <a:ext cx="5166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Everyday Sans" pitchFamily="2" charset="0"/>
              </a:rPr>
              <a:t>Confirm commitment to Wallkill. Align on risk tolerance for $65M-$200M incentive exposure and a May FY31 go-live target.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Everyday Sans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6574536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Everyday Sans" pitchFamily="2" charset="0"/>
              </a:rPr>
              <a:t>PRIVATE AND CONFIDENTIAL  |  Walmart Internal Use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6574536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Everyday Sans" pitchFamily="2" charset="0"/>
              </a:rPr>
              <a:t>Wallkill NextGen FC  |  Executive Review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0" y="164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220"/>
                </a:solidFill>
              </a:rPr>
              <a:t>* WALMART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C220"/>
                </a:solidFill>
              </a:rPr>
              <a:t>Moratorium Navigation &amp;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53E2"/>
                </a:solidFill>
              </a:rPr>
              <a:t>We Have a Clear Path - And We're Already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Three strategic pillars de-risk the moratorium. The April 2026 exemption is the critical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7295" cy="228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703320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44168"/>
            <a:ext cx="3703320" cy="166420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</a:rPr>
              <a:t>01  Administrative Exemption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82496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Pursuing a direct Town exemption - not a public vote. This bypasses referendum volatility and keeps the decision with aligned officials, not an open ballot.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1280160"/>
            <a:ext cx="3703320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6824" y="1344168"/>
            <a:ext cx="3703320" cy="166420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3984" y="138988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</a:rPr>
              <a:t>02  100% Union Labor as Political Shield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682496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Committing to full union construction labor gives the project political legitimacy with the Governor - the key ally needed to secure both the moratorium exemption and $65M-$200M in discretionary incentives.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1280160"/>
            <a:ext cx="3703320" cy="640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6448" y="1344168"/>
            <a:ext cx="3703320" cy="166420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8988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</a:rPr>
              <a:t>03  Legacy Project Framing (2003 Continuity)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682496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Positioning Wallkill as a continuation of the 2003 approved project reduces environmental review triggers and infrastructure demands, lowering the bar for approval and accelerating the exemption pathway.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08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3E2"/>
                </a:solidFill>
              </a:rPr>
              <a:t>KEY MILESTONE ROADMAP  |  Critical Gate: April 24, 2026 Moratorium Exemption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46704"/>
            <a:ext cx="11274552" cy="228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11277295" cy="4572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43158" y="3561588"/>
            <a:ext cx="237744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Mar 25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Town Supervisor  Meeting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52820" y="3561588"/>
            <a:ext cx="237744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12581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Mar 26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12581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Governor &amp; Union  Alignments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62482" y="3561588"/>
            <a:ext cx="237744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22243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Apr 10-15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2243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Exemption Path  Confirmed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26424" y="3515868"/>
            <a:ext cx="329184" cy="329184"/>
          </a:xfrm>
          <a:prstGeom prst="rect">
            <a:avLst/>
          </a:prstGeom>
          <a:solidFill>
            <a:srgbClr val="FFC220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31905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5200"/>
                </a:solidFill>
              </a:rPr>
              <a:t>Apr 24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1905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</a:rPr>
              <a:t>MORATORIUM  EXEMPTION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2376" y="4507992"/>
            <a:ext cx="1097280" cy="20116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2376" y="45171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2E"/>
                </a:solidFill>
              </a:rPr>
              <a:t>! CRITICAL GATE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81806" y="3561588"/>
            <a:ext cx="237744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41567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Aug 19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1567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ASM Full Capital  Approval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1468" y="3561588"/>
            <a:ext cx="237744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51229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51229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NYSDOT, SEQR &amp;  NYSDEC Approvals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1130" y="3561588"/>
            <a:ext cx="237744" cy="237744"/>
          </a:xfrm>
          <a:prstGeom prst="rect">
            <a:avLst/>
          </a:prstGeom>
          <a:solidFill>
            <a:srgbClr val="FFFFFF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0891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2028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0891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Site Work &amp;  Construction Start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910792" y="3561588"/>
            <a:ext cx="237744" cy="237744"/>
          </a:xfrm>
          <a:prstGeom prst="rect">
            <a:avLst/>
          </a:prstGeom>
          <a:solidFill>
            <a:srgbClr val="0053E2"/>
          </a:solidFill>
          <a:ln w="25400">
            <a:solidFill>
              <a:srgbClr val="005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70553" y="3730752"/>
            <a:ext cx="131822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53E2"/>
                </a:solidFill>
              </a:rPr>
              <a:t>May 2030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0553" y="4005072"/>
            <a:ext cx="131822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2E"/>
                </a:solidFill>
              </a:rPr>
              <a:t>Phase 1  Go-Live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26744" y="4507992"/>
            <a:ext cx="1005840" cy="20116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26744" y="45171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GO-LIVE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6574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</a:rPr>
              <a:t>PRIVATE AND CONFIDENTIAL  |  Walmart Internal Use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6574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Wallkill NextGen FC  |  Executive Review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0" y="164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220"/>
                </a:solidFill>
              </a:rPr>
              <a:t>* WALMART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C220"/>
                </a:solidFill>
              </a:rPr>
              <a:t>Critical Path Evaluation  |  Wallkill, NY vs. Douglas, 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53E2"/>
                </a:solidFill>
              </a:rPr>
              <a:t>Douglas Does Not Move the Needle - Wallkill Remains the Right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A ~6-week schedule difference is not a reason to abandon superior network fit and overall project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7295" cy="22860"/>
          </a:xfrm>
          <a:prstGeom prst="rect">
            <a:avLst/>
          </a:prstGeom>
          <a:solidFill>
            <a:srgbClr val="E0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64008" cy="749808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8" y="1280160"/>
            <a:ext cx="7132320" cy="74980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3441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53E2"/>
                </a:solidFill>
              </a:rPr>
              <a:t>The Statutory Black Box: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Both sites face a mandatory, non-compressible 12-month environmental review. No capital injection or added labor can accelerate it - it is a fixed regulatory constraint that anchors both timelines equally.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280160"/>
            <a:ext cx="64008" cy="74980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82128" y="1280160"/>
            <a:ext cx="3913632" cy="749808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1344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95200"/>
                </a:solidFill>
              </a:rPr>
              <a:t>FY30 Is Not Achievable at Either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Earliest go-live at either location is April-May 2030. The question is site selection, not timeline acceleration.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148840"/>
          <a:ext cx="1127455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005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Wallkill, NY  (Preferred)</a:t>
                      </a:r>
                    </a:p>
                  </a:txBody>
                  <a:tcPr>
                    <a:solidFill>
                      <a:srgbClr val="005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Douglas, MA  (Alternative)</a:t>
                      </a:r>
                    </a:p>
                  </a:txBody>
                  <a:tcPr>
                    <a:solidFill>
                      <a:srgbClr val="0053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Schedule Delta</a:t>
                      </a:r>
                    </a:p>
                  </a:txBody>
                  <a:tcPr>
                    <a:solidFill>
                      <a:srgbClr val="005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</a:rPr>
                        <a:t>Fixed Site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May 26, 2026 - Town moratorium vote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Apr 1, 2026 - Design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~8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</a:rPr>
                        <a:t>Environmental Submission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Oct 2, 2026 (SEQRA - NY)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Nov 30, 2026 (MEPA - MA)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Wallkill Earlier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</a:rPr>
                        <a:t>12-Month Statutory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Fixed by law - cannot be accelerated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Fixed by law - cannot be accelerated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No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</a:rPr>
                        <a:t>Permitting Complete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Oct 2027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Nov 2027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Wallkill Earlier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</a:rPr>
                        <a:t>Post-Permit 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~20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~20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No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A2E"/>
                          </a:solidFill>
                        </a:rPr>
                        <a:t>Substantial Completion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Oct 26, 2029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Sep 7, 2029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</a:rPr>
                        <a:t>~7 weeks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53E2"/>
                          </a:solidFill>
                        </a:rPr>
                        <a:t>Phase 1 Go-Live Target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53E2"/>
                          </a:solidFill>
                        </a:rPr>
                        <a:t>May 13, 2030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66666"/>
                          </a:solidFill>
                        </a:rPr>
                        <a:t>Apr 1, 2030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95200"/>
                          </a:solidFill>
                        </a:rPr>
                        <a:t>~6 Weeks Only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53E2"/>
                          </a:solidFill>
                        </a:rPr>
                        <a:t>Network Fit &amp; Overall Value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53E2"/>
                          </a:solidFill>
                        </a:rPr>
                        <a:t>Superior - Preferred Site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66666"/>
                          </a:solidFill>
                        </a:rPr>
                        <a:t>Lower value, higher CapEx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95200"/>
                          </a:solidFill>
                        </a:rPr>
                        <a:t>Wallkill Wins</a:t>
                      </a:r>
                    </a:p>
                  </a:txBody>
                  <a:tcPr>
                    <a:solidFill>
                      <a:srgbClr val="FFF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" y="5532120"/>
            <a:ext cx="11277295" cy="6858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605272"/>
            <a:ext cx="109572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Recommendation: Confirm Wallkill.  Douglas offers only a ~6-week schedule advantage while delivering inferior network fit and higher capital cost. The 12-month statutory environmental review is identical at both sites and cannot be compressed. The schedule delta is not a sufficient reason to switch.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574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</a:rPr>
              <a:t>PRIVATE AND CONFIDENTIAL  |  Walmart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5745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66666"/>
                </a:solidFill>
              </a:rPr>
              <a:t>Wallkill NextGen FC  |  Executive Review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768</Words>
  <Application>Microsoft Office PowerPoint</Application>
  <PresentationFormat>Widescreen</PresentationFormat>
  <Paragraphs>101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Everyday Sans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Kourtney Miller</cp:lastModifiedBy>
  <cp:revision>1</cp:revision>
  <dcterms:created xsi:type="dcterms:W3CDTF">2013-01-27T09:14:16Z</dcterms:created>
  <dcterms:modified xsi:type="dcterms:W3CDTF">2026-04-02T12:56:26Z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2026-04-02T12:56:08Z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d95ac0e6-b606-432d-ae3d-4904c87efbb7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