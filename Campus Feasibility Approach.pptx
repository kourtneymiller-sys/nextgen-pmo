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9" d="100"/>
          <a:sy n="139" d="100"/>
        </p:scale>
        <p:origin x="3246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rtney Miller" userId="259b18c5-446d-4dd9-aa20-cb703c0c9350" providerId="ADAL" clId="{D18F23BD-F6F3-4FC7-9319-B364BE36A4F4}"/>
    <pc:docChg chg="custSel mod modSld">
      <pc:chgData name="Kourtney Miller" userId="259b18c5-446d-4dd9-aa20-cb703c0c9350" providerId="ADAL" clId="{D18F23BD-F6F3-4FC7-9319-B364BE36A4F4}" dt="2026-04-13T14:48:38.090" v="1" actId="33475"/>
      <pc:docMkLst>
        <pc:docMk/>
      </pc:docMkLst>
      <pc:sldChg chg="delSp mod">
        <pc:chgData name="Kourtney Miller" userId="259b18c5-446d-4dd9-aa20-cb703c0c9350" providerId="ADAL" clId="{D18F23BD-F6F3-4FC7-9319-B364BE36A4F4}" dt="2026-04-13T14:48:28.973" v="0" actId="478"/>
        <pc:sldMkLst>
          <pc:docMk/>
          <pc:sldMk cId="0" sldId="256"/>
        </pc:sldMkLst>
        <pc:spChg chg="del">
          <ac:chgData name="Kourtney Miller" userId="259b18c5-446d-4dd9-aa20-cb703c0c9350" providerId="ADAL" clId="{D18F23BD-F6F3-4FC7-9319-B364BE36A4F4}" dt="2026-04-13T14:48:28.973" v="0" actId="478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3716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C220"/>
                </a:solidFill>
              </a:rPr>
              <a:t>Non-Sort &amp; NextGen  |  Campus Feasibility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053E2"/>
                </a:solidFill>
              </a:rPr>
              <a:t>Site Selection Decision Framework: Campus Co-Location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Step-by-step feasibility screen to identify where a shared campus is viable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7295" cy="2286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55367" y="1261872"/>
            <a:ext cx="7680960" cy="512064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 Non-Sort &amp; NextGen require the same Network Node?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773936"/>
            <a:ext cx="36576" cy="128016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84951" y="1901952"/>
            <a:ext cx="621792" cy="27432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7559" y="2176272"/>
            <a:ext cx="36576" cy="128016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4519" y="2304288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MCO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2615" y="2304288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MSP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0711" y="2304288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18807" y="2304288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SEA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7559" y="2578608"/>
            <a:ext cx="36576" cy="128016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255367" y="2706624"/>
            <a:ext cx="7680960" cy="512064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Are there spec buildings on the market at these nodes?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59" y="3218688"/>
            <a:ext cx="36576" cy="128016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98667" y="3346704"/>
            <a:ext cx="594360" cy="274320"/>
          </a:xfrm>
          <a:prstGeom prst="round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7559" y="3621024"/>
            <a:ext cx="36576" cy="128016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255367" y="3749040"/>
            <a:ext cx="7680960" cy="512064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Is there entitled land large enough (~300 acres) at these nodes?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7559" y="4261104"/>
            <a:ext cx="36576" cy="256032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34640" y="4590288"/>
            <a:ext cx="6519672" cy="36576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16352" y="4608576"/>
            <a:ext cx="36576" cy="18288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36024" y="4608576"/>
            <a:ext cx="36576" cy="18288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011680" y="4791456"/>
            <a:ext cx="1645920" cy="27432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YES  -  MCO &amp; MSP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1408" y="5157216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MCO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9504" y="5157216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MSP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68696"/>
            <a:ext cx="4572000" cy="832104"/>
          </a:xfrm>
          <a:prstGeom prst="rect">
            <a:avLst/>
          </a:prstGeom>
          <a:solidFill>
            <a:srgbClr val="E8F0FE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678424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3E2"/>
                </a:solidFill>
              </a:rPr>
              <a:t>Next Step: Deep Dive with Teams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52744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</a:rPr>
              <a:t>Assess whether MCO and MSP entitled land parcels are large enough and positioned correctly to support a shared Non-Sort + NextGen campus. Engage real estate, ops, and engineering teams.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1352" y="4791456"/>
            <a:ext cx="1645920" cy="2743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1A1A2E"/>
                </a:solidFill>
              </a:rPr>
              <a:t>TBD  -  SEA &amp; DEN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5157216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SEA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9176" y="5157216"/>
            <a:ext cx="658368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DEN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68312" y="5568696"/>
            <a:ext cx="4572000" cy="594360"/>
          </a:xfrm>
          <a:prstGeom prst="roundRect">
            <a:avLst/>
          </a:prstGeom>
          <a:solidFill>
            <a:srgbClr val="FFFBEF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7A3F0A"/>
                </a:solidFill>
              </a:rPr>
              <a:t>Is there raw land available that Walmart could develop?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36024" y="6163056"/>
            <a:ext cx="36576" cy="13716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068312" y="6300216"/>
            <a:ext cx="4572000" cy="594360"/>
          </a:xfrm>
          <a:prstGeom prst="roundRect">
            <a:avLst/>
          </a:prstGeom>
          <a:solidFill>
            <a:srgbClr val="FFFBEF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7A3F0A"/>
                </a:solidFill>
              </a:rPr>
              <a:t>If raw land exists - how long would it take to entitle &amp; zone?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</a:rPr>
              <a:t>PRIVATE AND CONFIDENTIAL  |  Walmart Internal Use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Non-Sort &amp; NextGen  |  Campus Feasibility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1360" y="137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220"/>
                </a:solidFill>
              </a:rPr>
              <a:t>* WALMART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C220"/>
                </a:solidFill>
              </a:rPr>
              <a:t>Campus Co-Location  |  Discussion Framing for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053E2"/>
                </a:solidFill>
              </a:rPr>
              <a:t>Key Questions: What Does a Campus Unlock?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Open discussion points to pressure-test the strategic and operational value of campus co-location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7295" cy="2286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9719" y="1298448"/>
            <a:ext cx="3657600" cy="1572768"/>
          </a:xfrm>
          <a:prstGeom prst="rect">
            <a:avLst/>
          </a:prstGeom>
          <a:solidFill>
            <a:srgbClr val="F0F4FC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9719" y="1298448"/>
            <a:ext cx="3657600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879" y="13898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3E2"/>
                </a:solidFill>
              </a:rPr>
              <a:t>Shared Parking &amp; Surface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1645920"/>
            <a:ext cx="3429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 a shared parking structure serve both Non-Sort and NextGen? What is the estimated cost savings vs. independent builds at two separate sites?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047" y="1298448"/>
            <a:ext cx="3657600" cy="1572768"/>
          </a:xfrm>
          <a:prstGeom prst="rect">
            <a:avLst/>
          </a:prstGeom>
          <a:solidFill>
            <a:srgbClr val="F0F4FC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67047" y="1298448"/>
            <a:ext cx="3657600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4207" y="13898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3E2"/>
                </a:solidFill>
              </a:rPr>
              <a:t>Shared Building Systems &amp; Utilities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207" y="1645920"/>
            <a:ext cx="3429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Are there opportunities to share utilities, security infrastructure, loading/dock areas, or mechanical systems across a campus to reduce CapEx and ongoing OpEx?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4375" y="1298448"/>
            <a:ext cx="3657600" cy="1572768"/>
          </a:xfrm>
          <a:prstGeom prst="rect">
            <a:avLst/>
          </a:prstGeom>
          <a:solidFill>
            <a:srgbClr val="F0F4FC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4375" y="1298448"/>
            <a:ext cx="3657600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1535" y="13898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3E2"/>
                </a:solidFill>
              </a:rPr>
              <a:t>Workforce &amp; Labor Flexibility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1535" y="1645920"/>
            <a:ext cx="3429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Does campus co-location enable shared workforce strategies - same labor pool, cross-training, or flexible staffing across both facilities during demand fluctuations?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719" y="2980944"/>
            <a:ext cx="3657600" cy="1572768"/>
          </a:xfrm>
          <a:prstGeom prst="rect">
            <a:avLst/>
          </a:prstGeom>
          <a:solidFill>
            <a:srgbClr val="F0F4FC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9719" y="2980944"/>
            <a:ext cx="3657600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879" y="307238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3E2"/>
                </a:solidFill>
              </a:rPr>
              <a:t>Phased Development &amp; CapEx Optionality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" y="3328416"/>
            <a:ext cx="3429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Does a unified ~300-acre campus allow for a phased build approach that reduces initial CapEx while preserving the ability to expand the second facility as demand grows?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047" y="2980944"/>
            <a:ext cx="3657600" cy="1572768"/>
          </a:xfrm>
          <a:prstGeom prst="rect">
            <a:avLst/>
          </a:prstGeom>
          <a:solidFill>
            <a:srgbClr val="F0F4FC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7047" y="2980944"/>
            <a:ext cx="3657600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04207" y="307238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3E2"/>
                </a:solidFill>
              </a:rPr>
              <a:t>Permitting &amp; Entitlement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4207" y="3328416"/>
            <a:ext cx="3429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 a single campus master plan and permit application streamline regulatory approvals vs. two independent entitlement processes - and what is the timeline benefit?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4375" y="2980944"/>
            <a:ext cx="3657600" cy="1572768"/>
          </a:xfrm>
          <a:prstGeom prst="rect">
            <a:avLst/>
          </a:prstGeom>
          <a:solidFill>
            <a:srgbClr val="F0F4FC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34375" y="2980944"/>
            <a:ext cx="3657600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71535" y="307238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3E2"/>
                </a:solidFill>
              </a:rPr>
              <a:t>Incentive Negotiating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1535" y="3328416"/>
            <a:ext cx="3429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Does a large campus commitment create a stronger community investment story with local governments - and does it strengthen Walmart's negotiating position for tax incentives and infrastructure support?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9719" y="4663440"/>
            <a:ext cx="11192256" cy="1572768"/>
          </a:xfrm>
          <a:prstGeom prst="rect">
            <a:avLst/>
          </a:prstGeom>
          <a:solidFill>
            <a:srgbClr val="F0F4FC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9719" y="4663440"/>
            <a:ext cx="11192256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879" y="4754880"/>
            <a:ext cx="10963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3E2"/>
                </a:solidFill>
              </a:rPr>
              <a:t>Operational Risk &amp; Resilience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879" y="5010912"/>
            <a:ext cx="1096365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Does campus co-location create operational concentration risk if one facility faces disruption - or does shared infrastructure create redundancy and resilience? How do we mitigate interdependency risk?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</a:rPr>
              <a:t>PRIVATE AND CONFIDENTIAL  |  Walmart Internal Use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Non-Sort &amp; NextGen  |  Campus Feasibility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Office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Kourtney Miller</cp:lastModifiedBy>
  <cp:revision>1</cp:revision>
  <dcterms:created xsi:type="dcterms:W3CDTF">2013-01-27T09:14:16Z</dcterms:created>
  <dcterms:modified xsi:type="dcterms:W3CDTF">2026-04-13T14:48:38Z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2026-04-13T14:48:38Z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b2195e61-16b6-4e2b-9524-a30b9d15caa0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