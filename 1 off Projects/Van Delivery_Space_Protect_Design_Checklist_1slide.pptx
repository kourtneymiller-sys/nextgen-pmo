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360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A52E-6BA3-4DD5-B054-6AA30FA0C53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97A9-92DD-4324-8D0D-1854A10CD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42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A52E-6BA3-4DD5-B054-6AA30FA0C53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97A9-92DD-4324-8D0D-1854A10CD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562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A52E-6BA3-4DD5-B054-6AA30FA0C53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97A9-92DD-4324-8D0D-1854A10CD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0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319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411" y="1600201"/>
            <a:ext cx="403965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A52E-6BA3-4DD5-B054-6AA30FA0C53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97A9-92DD-4324-8D0D-1854A10CD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54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19" y="2174875"/>
            <a:ext cx="404124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6235" y="1535113"/>
            <a:ext cx="4042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6235" y="2174875"/>
            <a:ext cx="404282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A52E-6BA3-4DD5-B054-6AA30FA0C53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97A9-92DD-4324-8D0D-1854A10CD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5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A52E-6BA3-4DD5-B054-6AA30FA0C53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97A9-92DD-4324-8D0D-1854A10CD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3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A52E-6BA3-4DD5-B054-6AA30FA0C53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97A9-92DD-4324-8D0D-1854A10CD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42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981" y="273051"/>
            <a:ext cx="511308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319" y="1435101"/>
            <a:ext cx="300909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A52E-6BA3-4DD5-B054-6AA30FA0C53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97A9-92DD-4324-8D0D-1854A10CD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1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755" y="612775"/>
            <a:ext cx="548782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755" y="5367338"/>
            <a:ext cx="548782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A52E-6BA3-4DD5-B054-6AA30FA0C53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97A9-92DD-4324-8D0D-1854A10CD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1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A52E-6BA3-4DD5-B054-6AA30FA0C53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97A9-92DD-4324-8D0D-1854A10CD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43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1127" y="274639"/>
            <a:ext cx="205793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319" y="274639"/>
            <a:ext cx="602136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2A52E-6BA3-4DD5-B054-6AA30FA0C53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F997A9-92DD-4324-8D0D-1854A10CD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30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2A52E-6BA3-4DD5-B054-6AA30FA0C53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997A9-92DD-4324-8D0D-1854A10CD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7B56F-9887-0B6E-1BBF-797444AAE3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B61772-DA1A-E9D3-8D26-33E54A1EED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52E09D-D540-96AA-802E-0686534C521C}"/>
              </a:ext>
            </a:extLst>
          </p:cNvPr>
          <p:cNvSpPr txBox="1"/>
          <p:nvPr/>
        </p:nvSpPr>
        <p:spPr>
          <a:xfrm>
            <a:off x="355600" y="203200"/>
            <a:ext cx="114808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0053E2"/>
                </a:solidFill>
                <a:latin typeface="Calibri" panose="020F0502020204030204" pitchFamily="34" charset="0"/>
              </a:rPr>
              <a:t>Van Delivery Design Checklist - Construction Space Protection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4FA20-4AD8-F063-0B67-F0C57A7632D2}"/>
              </a:ext>
            </a:extLst>
          </p:cNvPr>
          <p:cNvSpPr txBox="1"/>
          <p:nvPr/>
        </p:nvSpPr>
        <p:spPr>
          <a:xfrm>
            <a:off x="381000" y="609600"/>
            <a:ext cx="1143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464646"/>
                </a:solidFill>
                <a:latin typeface="Calibri" panose="020F0502020204030204" pitchFamily="34" charset="0"/>
              </a:rPr>
              <a:t>Source: Van Delivery Site Design Checklist | Objective: protect Day 1 and full build-out space for van delivery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E6044B-71F2-2155-6987-6D8CCA338C58}"/>
              </a:ext>
            </a:extLst>
          </p:cNvPr>
          <p:cNvSpPr/>
          <p:nvPr/>
        </p:nvSpPr>
        <p:spPr>
          <a:xfrm>
            <a:off x="381000" y="990600"/>
            <a:ext cx="5334000" cy="5461000"/>
          </a:xfrm>
          <a:prstGeom prst="rect">
            <a:avLst/>
          </a:prstGeom>
          <a:gradFill flip="none" rotWithShape="1">
            <a:gsLst>
              <a:gs pos="0">
                <a:srgbClr val="F7F9F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C66F8-7ECC-E748-6309-6E23D4169A7B}"/>
              </a:ext>
            </a:extLst>
          </p:cNvPr>
          <p:cNvSpPr/>
          <p:nvPr/>
        </p:nvSpPr>
        <p:spPr>
          <a:xfrm>
            <a:off x="5905500" y="990600"/>
            <a:ext cx="5969000" cy="5461000"/>
          </a:xfrm>
          <a:prstGeom prst="rect">
            <a:avLst/>
          </a:prstGeom>
          <a:gradFill flip="none" rotWithShape="1">
            <a:gsLst>
              <a:gs pos="0">
                <a:srgbClr val="F7F9FC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D2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FEE23-793B-A7FE-1D74-B2DA6818A819}"/>
              </a:ext>
            </a:extLst>
          </p:cNvPr>
          <p:cNvSpPr txBox="1"/>
          <p:nvPr/>
        </p:nvSpPr>
        <p:spPr>
          <a:xfrm>
            <a:off x="558800" y="1143000"/>
            <a:ext cx="4953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0053E2"/>
                </a:solidFill>
                <a:latin typeface="Calibri" panose="020F0502020204030204" pitchFamily="34" charset="0"/>
              </a:rPr>
              <a:t>Checklist coverage used by Construction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B2E96D-9F8B-7CD4-0811-B7D921D39B03}"/>
              </a:ext>
            </a:extLst>
          </p:cNvPr>
          <p:cNvSpPr txBox="1"/>
          <p:nvPr/>
        </p:nvSpPr>
        <p:spPr>
          <a:xfrm>
            <a:off x="609600" y="15240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1) Operational Requirements: 9 checks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2208DB-A23B-653F-6066-7771FF690B7C}"/>
              </a:ext>
            </a:extLst>
          </p:cNvPr>
          <p:cNvSpPr txBox="1"/>
          <p:nvPr/>
        </p:nvSpPr>
        <p:spPr>
          <a:xfrm>
            <a:off x="609600" y="18288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2) Site Layout &amp; Circulation: 8 checks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CB3046-362F-8D6C-A3CC-5D1E21BA8066}"/>
              </a:ext>
            </a:extLst>
          </p:cNvPr>
          <p:cNvSpPr txBox="1"/>
          <p:nvPr/>
        </p:nvSpPr>
        <p:spPr>
          <a:xfrm>
            <a:off x="609600" y="21336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3) Building Interface: 9 checks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736D2-109E-11BD-374D-0CD2738E6C8D}"/>
              </a:ext>
            </a:extLst>
          </p:cNvPr>
          <p:cNvSpPr txBox="1"/>
          <p:nvPr/>
        </p:nvSpPr>
        <p:spPr>
          <a:xfrm>
            <a:off x="609600" y="24384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4) Parking &amp; Stall Design: 5 checks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BF60F3-0721-1AB0-4824-70A24BE94CA8}"/>
              </a:ext>
            </a:extLst>
          </p:cNvPr>
          <p:cNvSpPr txBox="1"/>
          <p:nvPr/>
        </p:nvSpPr>
        <p:spPr>
          <a:xfrm>
            <a:off x="609600" y="2743200"/>
            <a:ext cx="482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5) EV Readiness (Disclaimer: EV parking and/or charging must be 50+ feet away from the building): 7 checks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82F934-3FB2-5197-4C59-BDB31439D373}"/>
              </a:ext>
            </a:extLst>
          </p:cNvPr>
          <p:cNvSpPr txBox="1"/>
          <p:nvPr/>
        </p:nvSpPr>
        <p:spPr>
          <a:xfrm>
            <a:off x="609600" y="30480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200">
                <a:solidFill>
                  <a:srgbClr val="282828"/>
                </a:solidFill>
                <a:latin typeface="Calibri" panose="020F0502020204030204" pitchFamily="34" charset="0"/>
              </a:rPr>
              <a:t>6) Utilities &amp; Infrastructure: 5 checks</a:t>
            </a:r>
            <a:endParaRPr lang="en-US" sz="1200">
              <a:solidFill>
                <a:srgbClr val="282828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C87709-15A7-ECEA-748A-19D0F0C2BC4A}"/>
              </a:ext>
            </a:extLst>
          </p:cNvPr>
          <p:cNvSpPr txBox="1"/>
          <p:nvPr/>
        </p:nvSpPr>
        <p:spPr>
          <a:xfrm>
            <a:off x="609600" y="33528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7) Safety &amp; Separation: 5 checks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ED6FCD-A6D5-54C8-C46F-556ABC09E2C6}"/>
              </a:ext>
            </a:extLst>
          </p:cNvPr>
          <p:cNvSpPr txBox="1"/>
          <p:nvPr/>
        </p:nvSpPr>
        <p:spPr>
          <a:xfrm>
            <a:off x="609600" y="36576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8) Security &amp; Access Control: 4 checks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115D08-EA7C-29F1-74B0-C83A01116D46}"/>
              </a:ext>
            </a:extLst>
          </p:cNvPr>
          <p:cNvSpPr txBox="1"/>
          <p:nvPr/>
        </p:nvSpPr>
        <p:spPr>
          <a:xfrm>
            <a:off x="609600" y="39624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9) Climate &amp; Weather: 4 checks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284C17-CDE5-4D08-16DE-5C8518B13BE1}"/>
              </a:ext>
            </a:extLst>
          </p:cNvPr>
          <p:cNvSpPr txBox="1"/>
          <p:nvPr/>
        </p:nvSpPr>
        <p:spPr>
          <a:xfrm>
            <a:off x="609600" y="42672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10) Scalability &amp; Future Expansion: 4 checks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5751AC-8662-022A-E789-A79FFB0C63C6}"/>
              </a:ext>
            </a:extLst>
          </p:cNvPr>
          <p:cNvSpPr txBox="1"/>
          <p:nvPr/>
        </p:nvSpPr>
        <p:spPr>
          <a:xfrm>
            <a:off x="609600" y="4572000"/>
            <a:ext cx="482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282828"/>
                </a:solidFill>
                <a:latin typeface="Calibri" panose="020F0502020204030204" pitchFamily="34" charset="0"/>
              </a:rPr>
              <a:t>11) Cost &amp; Tradeoff Alignment: 4 checks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11DC28-60C5-3752-8CC2-9C4CB865B4B1}"/>
              </a:ext>
            </a:extLst>
          </p:cNvPr>
          <p:cNvSpPr txBox="1"/>
          <p:nvPr/>
        </p:nvSpPr>
        <p:spPr>
          <a:xfrm>
            <a:off x="6070600" y="1143000"/>
            <a:ext cx="558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0053E2"/>
                </a:solidFill>
                <a:latin typeface="Calibri" panose="020F0502020204030204" pitchFamily="34" charset="0"/>
              </a:rPr>
              <a:t>Space-protect controls highlighted for Van Delivery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13FD37-6B43-D017-73FC-93AAD25FBDEB}"/>
              </a:ext>
            </a:extLst>
          </p:cNvPr>
          <p:cNvSpPr txBox="1"/>
          <p:nvPr/>
        </p:nvSpPr>
        <p:spPr>
          <a:xfrm>
            <a:off x="6070600" y="1549400"/>
            <a:ext cx="5588000" cy="169277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Total van stalls (Day 1) defined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Total van stalls (Full build-out) defined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Queueing space at peak dispatch (inbound/outbound)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Van traffic separated from truck / trailer traffic circulation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Van traffic separated from associate traffic circulation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Charging locations coordinated with parking layout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Space allocated for switchgear / transformers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>
                <a:solidFill>
                  <a:srgbClr val="282828"/>
                </a:solidFill>
                <a:latin typeface="Calibri" panose="020F0502020204030204" pitchFamily="34" charset="0"/>
              </a:rPr>
              <a:t>Expansion capacity for van parking preserved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1072B4-7B0A-DDDB-2A1B-1BEBF66F79F1}"/>
              </a:ext>
            </a:extLst>
          </p:cNvPr>
          <p:cNvSpPr txBox="1"/>
          <p:nvPr/>
        </p:nvSpPr>
        <p:spPr>
          <a:xfrm>
            <a:off x="6070600" y="5969000"/>
            <a:ext cx="558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995213"/>
                </a:solidFill>
                <a:latin typeface="Calibri" panose="020F0502020204030204" pitchFamily="34" charset="0"/>
              </a:rPr>
              <a:t>Recommendation: finalize Day 1 stalls, full build-out stalls, queueing, EV utility footprint, and expansion hold zones before design freeze.</a:t>
            </a:r>
          </a:p>
        </p:txBody>
      </p:sp>
    </p:spTree>
    <p:extLst>
      <p:ext uri="{BB962C8B-B14F-4D97-AF65-F5344CB8AC3E}">
        <p14:creationId xmlns:p14="http://schemas.microsoft.com/office/powerpoint/2010/main" val="1722630315"/>
      </p:ext>
    </p:extLst>
  </p:cSld>
  <p:clrMapOvr>
    <a:masterClrMapping/>
  </p:clrMapOvr>
</p:sld>
</file>

<file path=ppt/theme/theme1.xml><?xml version="1.0" encoding="utf-8"?>
<a:theme xmlns:a="http://schemas.openxmlformats.org/drawingml/2006/main" name="NextGen Timelines Comparison v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NextGen Timelines Comparison v3</Template>
  <TotalTime>0</TotalTime>
  <Words>232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NextGen Timelines Comparison v3</vt:lpstr>
      <vt:lpstr>PowerPoint Presentation</vt:lpstr>
    </vt:vector>
  </TitlesOfParts>
  <Company>Walmart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Kourtney Miller</dc:creator>
  <cp:lastModifiedBy>Kourtney Miller</cp:lastModifiedBy>
  <cp:revision>1</cp:revision>
  <dcterms:created xsi:type="dcterms:W3CDTF">2026-05-01T15:04:05Z</dcterms:created>
  <dcterms:modified xsi:type="dcterms:W3CDTF">2026-05-01T15:04:12Z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2026-05-01T15:04:11Z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2962b201-1329-47c6-ac10-21bf48c49556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10, 3, 0, 1</vt:lpwstr>
  </property>
</Properties>
</file>