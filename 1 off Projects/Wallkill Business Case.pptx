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E60"/>
                </a:solidFill>
                <a:latin typeface="Everyday Sans"/>
              </a:rPr>
              <a:t>Wallkill NextGen FC  —  Path to August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Everyday Sans"/>
              </a:rPr>
              <a:t>What needs to be completed before the governance cycle starts on July 1,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0" y="82296"/>
            <a:ext cx="640080" cy="23774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56848" y="91439"/>
            <a:ext cx="603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Everyday Sans"/>
              </a:rPr>
              <a:t>Inform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11631168" y="54864"/>
            <a:ext cx="320040" cy="320040"/>
          </a:xfrm>
          <a:prstGeom prst="pentagon">
            <a:avLst/>
          </a:prstGeom>
          <a:solidFill>
            <a:srgbClr val="FFC220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0" y="91440"/>
            <a:ext cx="1828800" cy="749808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5168" y="109728"/>
            <a:ext cx="1792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220"/>
                </a:solidFill>
                <a:latin typeface="Everyday Sans"/>
              </a:rPr>
              <a:t>64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8" y="493776"/>
            <a:ext cx="1792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Everyday Sans"/>
              </a:rPr>
              <a:t>to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932688"/>
            <a:ext cx="11548872" cy="9144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987552"/>
            <a:ext cx="11731752" cy="621792"/>
          </a:xfrm>
          <a:prstGeom prst="rect">
            <a:avLst/>
          </a:prstGeom>
          <a:solidFill>
            <a:srgbClr val="A9DDF7"/>
          </a:solidFill>
          <a:ln w="6350">
            <a:solidFill>
              <a:srgbClr val="4DB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284732"/>
            <a:ext cx="11183112" cy="27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8912" y="1234440"/>
            <a:ext cx="128016" cy="128016"/>
          </a:xfrm>
          <a:prstGeom prst="ellipse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-182879" y="10241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1E60"/>
                </a:solidFill>
                <a:latin typeface="Everyday Sans"/>
              </a:rPr>
              <a:t>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82879" y="13533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Everyday Sans"/>
              </a:rPr>
              <a:t>Apr 28</a:t>
            </a:r>
          </a:p>
        </p:txBody>
      </p:sp>
      <p:sp>
        <p:nvSpPr>
          <p:cNvPr id="18" name="Oval 17"/>
          <p:cNvSpPr/>
          <p:nvPr/>
        </p:nvSpPr>
        <p:spPr>
          <a:xfrm>
            <a:off x="6715170" y="1248156"/>
            <a:ext cx="100584" cy="100584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9662" y="10241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53E2"/>
                </a:solidFill>
                <a:latin typeface="Everyday Sans"/>
              </a:rPr>
              <a:t>CPC Turn-In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9662" y="13533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Everyday Sans"/>
              </a:rPr>
              <a:t>~Jun 15</a:t>
            </a:r>
          </a:p>
        </p:txBody>
      </p:sp>
      <p:sp>
        <p:nvSpPr>
          <p:cNvPr id="21" name="Oval 20"/>
          <p:cNvSpPr/>
          <p:nvPr/>
        </p:nvSpPr>
        <p:spPr>
          <a:xfrm>
            <a:off x="8504468" y="1248156"/>
            <a:ext cx="100584" cy="100584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8960" y="10241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53E2"/>
                </a:solidFill>
                <a:latin typeface="Everyday Sans"/>
              </a:rPr>
              <a:t>CFO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8960" y="13533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Everyday Sans"/>
              </a:rPr>
              <a:t>~Jun 22</a:t>
            </a:r>
          </a:p>
        </p:txBody>
      </p:sp>
      <p:sp>
        <p:nvSpPr>
          <p:cNvPr id="24" name="Oval 23"/>
          <p:cNvSpPr/>
          <p:nvPr/>
        </p:nvSpPr>
        <p:spPr>
          <a:xfrm>
            <a:off x="11622024" y="1234440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00232" y="10241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0000"/>
                </a:solidFill>
                <a:latin typeface="Everyday Sans"/>
              </a:rPr>
              <a:t>GOV. STARTS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0232" y="13533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Everyday Sans"/>
              </a:rPr>
              <a:t>Jul 1,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576304" y="987552"/>
            <a:ext cx="384048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76304" y="1078992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ASM
Aug 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1719072"/>
            <a:ext cx="3749039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1719072"/>
            <a:ext cx="3749039" cy="45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810512"/>
            <a:ext cx="2743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3E2"/>
                </a:solidFill>
                <a:latin typeface="Everyday Sans"/>
              </a:rPr>
              <a:t>💰  Financials &amp; Business Case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59" y="1792224"/>
            <a:ext cx="804672" cy="21945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59" y="180136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Due Jun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084831"/>
            <a:ext cx="3657599" cy="9144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" y="2121408"/>
            <a:ext cx="363016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1E60"/>
                </a:solidFill>
                <a:latin typeface="Everyday Sans"/>
              </a:rPr>
              <a:t>•  True-up tariff assumptions following Supreme Court ruling &amp; Turnberry Agreement (end of Apr)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Finalize IRR, NPV, CapEx/OpEx ask — refresh from Nov ASM to May ASM numbers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Lock unit mix: WFS / Sam’s / 1P split and AUR by channel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Run IRR sensitivity scenarios; confirm 11–13% range holds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4235" y="1719072"/>
            <a:ext cx="3749039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74235" y="1719072"/>
            <a:ext cx="3749039" cy="45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5675" y="1810512"/>
            <a:ext cx="2743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8703"/>
                </a:solidFill>
                <a:latin typeface="Everyday Sans"/>
              </a:rPr>
              <a:t>🏗  Design &amp; Value Engineering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54595" y="1792224"/>
            <a:ext cx="804672" cy="219456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4595" y="180136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Due Jun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9955" y="2084831"/>
            <a:ext cx="3657599" cy="9144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47388" y="2121408"/>
            <a:ext cx="363016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1E60"/>
                </a:solidFill>
                <a:latin typeface="Everyday Sans"/>
              </a:rPr>
              <a:t>•  Reach 60% design completion milestone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Complete Value Engineering analysis — identify and lock savings items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Finalize building UPH targets and automation scope with KNAPP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Confirm Secondary ASRS aisle count, tote strategy, and sorter configuration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19871" y="1719072"/>
            <a:ext cx="3749039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19871" y="1719072"/>
            <a:ext cx="3749039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1311" y="1810512"/>
            <a:ext cx="2743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Everyday Sans"/>
              </a:rPr>
              <a:t>📍  Site, Land &amp; Permitting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00232" y="1792224"/>
            <a:ext cx="804672" cy="21945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00232" y="180136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Due May 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65592" y="2084831"/>
            <a:ext cx="3657599" cy="9144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93023" y="2121408"/>
            <a:ext cx="363016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1E60"/>
                </a:solidFill>
                <a:latin typeface="Everyday Sans"/>
              </a:rPr>
              <a:t>•  Resolve outstanding wetland permits blocking land closing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Confirm land closing timeline and downpayment schedule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Lock site dimensions, trailer count, and dock door count for business case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Finalize permitting path to avoid construction start delays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4160520"/>
            <a:ext cx="3749039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8600" y="4160520"/>
            <a:ext cx="3749039" cy="45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251960"/>
            <a:ext cx="2743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8703"/>
                </a:solidFill>
                <a:latin typeface="Everyday Sans"/>
              </a:rPr>
              <a:t>🤝  Incentives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08959" y="4233672"/>
            <a:ext cx="804672" cy="219456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59" y="424281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Due Jun 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526280"/>
            <a:ext cx="3657599" cy="9144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" y="4562856"/>
            <a:ext cx="363016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1E60"/>
                </a:solidFill>
                <a:latin typeface="Everyday Sans"/>
              </a:rPr>
              <a:t>•  Convert informal state/county offer to formal incentive agreement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Lock final values: sales tax exemption, tax abatement, job tax credit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Confirm total incentive package value for business case net CapEx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Coordinate with Real Estate and Finance to reflect in financial model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4235" y="4160520"/>
            <a:ext cx="3749039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74235" y="4160520"/>
            <a:ext cx="3749039" cy="45720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65675" y="4251960"/>
            <a:ext cx="2743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1E60"/>
                </a:solidFill>
                <a:latin typeface="Everyday Sans"/>
              </a:rPr>
              <a:t>⚙️  KNAPP &amp; Procurement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4595" y="4233672"/>
            <a:ext cx="804672" cy="219456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4595" y="424281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Due Jun 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19955" y="4526280"/>
            <a:ext cx="3657599" cy="9144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47388" y="4562856"/>
            <a:ext cx="363016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1E60"/>
                </a:solidFill>
                <a:latin typeface="Everyday Sans"/>
              </a:rPr>
              <a:t>•  Finalize KNAPP long-lead item orders and lock pricing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Confirm goodwill discount amount and structure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Lock tariff exposure on automation scope; validate against KNAPP contract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Align on phased installation plan to support August go-live target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19871" y="4160520"/>
            <a:ext cx="3749039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19871" y="4160520"/>
            <a:ext cx="3749039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11311" y="4251960"/>
            <a:ext cx="2743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Everyday Sans"/>
              </a:rPr>
              <a:t>📋  CPC Deck, FAQs &amp; Exec Alignment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00232" y="4233672"/>
            <a:ext cx="804672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00232" y="424281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Due Jun 22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65592" y="4526280"/>
            <a:ext cx="3657599" cy="9144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93023" y="4562856"/>
            <a:ext cx="363016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1E60"/>
                </a:solidFill>
                <a:latin typeface="Everyday Sans"/>
              </a:rPr>
              <a:t>•  Update FAQ financials section (Nov ASM → May ASM numbers)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Finalize Talking Points: 30-min ultra fast, waterfall reframe, 1P/WFS/Sam’s breakdown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Schedule and complete CFO Review → CPC Turn-In → SteerCo</a:t>
            </a:r>
          </a:p>
          <a:p>
            <a:r>
              <a:rPr sz="1100">
                <a:solidFill>
                  <a:srgbClr val="001E60"/>
                </a:solidFill>
                <a:latin typeface="Everyday Sans"/>
              </a:rPr>
              <a:t>•  Confirm REC/RLM sequencing ahead of July 1 governance start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6492240"/>
            <a:ext cx="11731752" cy="9144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0000"/>
                </a:solidFill>
                <a:latin typeface="Everyday Sans"/>
              </a:rPr>
              <a:t>⚠️  Key Risks: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54480" y="653796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Everyday Sans"/>
              </a:rPr>
              <a:t>Wetland permits / land closing at risk  •  Tariffs not yet true-up’d  •  Financials on Nov ASM baseline  •  Incentives informal  •  KNAPP pricing outstanding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87000" y="6537960"/>
            <a:ext cx="1673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CCCCC"/>
                </a:solidFill>
                <a:latin typeface="Everyday Sans"/>
              </a:rPr>
              <a:t>PRIVATE AND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