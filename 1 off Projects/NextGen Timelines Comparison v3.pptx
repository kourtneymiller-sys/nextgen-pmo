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0995E-4CD4-4CF5-9A61-4F7F79207771}" v="1" dt="2026-04-24T15:56:08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2802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rtney Miller" userId="259b18c5-446d-4dd9-aa20-cb703c0c9350" providerId="ADAL" clId="{D18F23BD-F6F3-4FC7-9319-B364BE36A4F4}"/>
    <pc:docChg chg="undo custSel mod modSld">
      <pc:chgData name="Kourtney Miller" userId="259b18c5-446d-4dd9-aa20-cb703c0c9350" providerId="ADAL" clId="{D18F23BD-F6F3-4FC7-9319-B364BE36A4F4}" dt="2026-04-24T15:59:52.499" v="63" actId="207"/>
      <pc:docMkLst>
        <pc:docMk/>
      </pc:docMkLst>
      <pc:sldChg chg="addSp delSp modSp mod">
        <pc:chgData name="Kourtney Miller" userId="259b18c5-446d-4dd9-aa20-cb703c0c9350" providerId="ADAL" clId="{D18F23BD-F6F3-4FC7-9319-B364BE36A4F4}" dt="2026-04-24T15:59:52.499" v="63" actId="207"/>
        <pc:sldMkLst>
          <pc:docMk/>
          <pc:sldMk cId="0" sldId="256"/>
        </pc:sldMkLst>
        <pc:spChg chg="del mod">
          <ac:chgData name="Kourtney Miller" userId="259b18c5-446d-4dd9-aa20-cb703c0c9350" providerId="ADAL" clId="{D18F23BD-F6F3-4FC7-9319-B364BE36A4F4}" dt="2026-04-24T15:52:57.659" v="4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Kourtney Miller" userId="259b18c5-446d-4dd9-aa20-cb703c0c9350" providerId="ADAL" clId="{D18F23BD-F6F3-4FC7-9319-B364BE36A4F4}" dt="2026-04-24T15:52:53.252" v="3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57.766" v="46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50.702" v="44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05.873" v="13" actId="20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05.873" v="13" actId="20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05.873" v="13" actId="20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46.464" v="43" actId="6549"/>
          <ac:spMkLst>
            <pc:docMk/>
            <pc:sldMk cId="0" sldId="256"/>
            <ac:spMk id="2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05.873" v="13" actId="20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5:05.873" v="13" actId="207"/>
          <ac:spMkLst>
            <pc:docMk/>
            <pc:sldMk cId="0" sldId="256"/>
            <ac:spMk id="22" creationId="{00000000-0000-0000-0000-000000000000}"/>
          </ac:spMkLst>
        </pc:spChg>
        <pc:spChg chg="del">
          <ac:chgData name="Kourtney Miller" userId="259b18c5-446d-4dd9-aa20-cb703c0c9350" providerId="ADAL" clId="{D18F23BD-F6F3-4FC7-9319-B364BE36A4F4}" dt="2026-04-24T14:56:16.891" v="2" actId="478"/>
          <ac:spMkLst>
            <pc:docMk/>
            <pc:sldMk cId="0" sldId="256"/>
            <ac:spMk id="24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25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15.424" v="54" actId="207"/>
          <ac:spMkLst>
            <pc:docMk/>
            <pc:sldMk cId="0" sldId="256"/>
            <ac:spMk id="3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4:00.752" v="10" actId="20577"/>
          <ac:spMkLst>
            <pc:docMk/>
            <pc:sldMk cId="0" sldId="256"/>
            <ac:spMk id="43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6:51.329" v="52" actId="20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5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9:52.499" v="63" actId="207"/>
          <ac:spMkLst>
            <pc:docMk/>
            <pc:sldMk cId="0" sldId="256"/>
            <ac:spMk id="64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74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7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6:51.329" v="52" actId="207"/>
          <ac:spMkLst>
            <pc:docMk/>
            <pc:sldMk cId="0" sldId="256"/>
            <ac:spMk id="78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8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9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25.912" v="55" actId="207"/>
          <ac:spMkLst>
            <pc:docMk/>
            <pc:sldMk cId="0" sldId="256"/>
            <ac:spMk id="98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9:52.499" v="63" actId="207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25.912" v="55" actId="207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12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132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4:55:37.201" v="0" actId="2711"/>
          <ac:spMkLst>
            <pc:docMk/>
            <pc:sldMk cId="0" sldId="256"/>
            <ac:spMk id="133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15.424" v="54" actId="207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9:52.499" v="63" actId="207"/>
          <ac:spMkLst>
            <pc:docMk/>
            <pc:sldMk cId="0" sldId="256"/>
            <ac:spMk id="146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28.095" v="61" actId="207"/>
          <ac:spMkLst>
            <pc:docMk/>
            <pc:sldMk cId="0" sldId="256"/>
            <ac:spMk id="15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25.912" v="55" actId="207"/>
          <ac:spMkLst>
            <pc:docMk/>
            <pc:sldMk cId="0" sldId="256"/>
            <ac:spMk id="16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7:58.367" v="59" actId="403"/>
          <ac:spMkLst>
            <pc:docMk/>
            <pc:sldMk cId="0" sldId="256"/>
            <ac:spMk id="162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3:46.727" v="8" actId="1076"/>
          <ac:spMkLst>
            <pc:docMk/>
            <pc:sldMk cId="0" sldId="256"/>
            <ac:spMk id="16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3:46.727" v="8" actId="1076"/>
          <ac:spMkLst>
            <pc:docMk/>
            <pc:sldMk cId="0" sldId="256"/>
            <ac:spMk id="17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3:46.727" v="8" actId="1076"/>
          <ac:spMkLst>
            <pc:docMk/>
            <pc:sldMk cId="0" sldId="256"/>
            <ac:spMk id="171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3:46.727" v="8" actId="1076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36.343" v="62" actId="207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3:46.727" v="8" actId="1076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8:10.811" v="60" actId="207"/>
          <ac:spMkLst>
            <pc:docMk/>
            <pc:sldMk cId="0" sldId="256"/>
            <ac:spMk id="175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24T15:53:46.727" v="8" actId="1076"/>
          <ac:spMkLst>
            <pc:docMk/>
            <pc:sldMk cId="0" sldId="256"/>
            <ac:spMk id="176" creationId="{00000000-0000-0000-0000-000000000000}"/>
          </ac:spMkLst>
        </pc:spChg>
        <pc:spChg chg="del">
          <ac:chgData name="Kourtney Miller" userId="259b18c5-446d-4dd9-aa20-cb703c0c9350" providerId="ADAL" clId="{D18F23BD-F6F3-4FC7-9319-B364BE36A4F4}" dt="2026-04-24T15:53:38.694" v="7" actId="478"/>
          <ac:spMkLst>
            <pc:docMk/>
            <pc:sldMk cId="0" sldId="256"/>
            <ac:spMk id="178" creationId="{00000000-0000-0000-0000-000000000000}"/>
          </ac:spMkLst>
        </pc:spChg>
        <pc:spChg chg="add mod ord">
          <ac:chgData name="Kourtney Miller" userId="259b18c5-446d-4dd9-aa20-cb703c0c9350" providerId="ADAL" clId="{D18F23BD-F6F3-4FC7-9319-B364BE36A4F4}" dt="2026-04-24T15:59:52.499" v="63" actId="207"/>
          <ac:spMkLst>
            <pc:docMk/>
            <pc:sldMk cId="0" sldId="256"/>
            <ac:spMk id="180" creationId="{692C9A9A-7C63-6B0A-6081-A32468FEFF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79">
            <a:extLst>
              <a:ext uri="{FF2B5EF4-FFF2-40B4-BE49-F238E27FC236}">
                <a16:creationId xmlns:a16="http://schemas.microsoft.com/office/drawing/2014/main" id="{692C9A9A-7C63-6B0A-6081-A32468FEFFAD}"/>
              </a:ext>
            </a:extLst>
          </p:cNvPr>
          <p:cNvSpPr/>
          <p:nvPr/>
        </p:nvSpPr>
        <p:spPr>
          <a:xfrm>
            <a:off x="274320" y="1147623"/>
            <a:ext cx="11686032" cy="780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69164"/>
            <a:ext cx="6206827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0053E2"/>
                </a:solidFill>
                <a:latin typeface="Everyday Sans" pitchFamily="50" charset="0"/>
              </a:rPr>
              <a:t>NextGen Fulfillment Center — Timeline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98348"/>
            <a:ext cx="23836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62728A"/>
                </a:solidFill>
                <a:latin typeface="Everyday Sans" pitchFamily="50" charset="0"/>
              </a:rPr>
              <a:t>Sortable Fulfilment Strategy   │ 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37260"/>
            <a:ext cx="184346" cy="100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 i="0">
                <a:solidFill>
                  <a:srgbClr val="62728A"/>
                </a:solidFill>
                <a:latin typeface="Everyday Sans" pitchFamily="50" charset="0"/>
              </a:rPr>
              <a:t>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4768" y="918972"/>
            <a:ext cx="213199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4397" y="918972"/>
            <a:ext cx="218008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9637" y="918972"/>
            <a:ext cx="211596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8464" y="918972"/>
            <a:ext cx="218008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3462" y="918972"/>
            <a:ext cx="218008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488" y="918972"/>
            <a:ext cx="226023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7147" y="918972"/>
            <a:ext cx="198772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2031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8" y="882396"/>
            <a:ext cx="804672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Everyday Sans" pitchFamily="5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02061" y="928116"/>
            <a:ext cx="3959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 i="0" dirty="0">
                <a:solidFill>
                  <a:schemeClr val="bg1"/>
                </a:solidFill>
                <a:latin typeface="Everyday Sans" pitchFamily="50" charset="0"/>
              </a:rPr>
              <a:t>SITE </a:t>
            </a:r>
            <a:endParaRPr lang="en-US" sz="600" b="1" i="0" dirty="0">
              <a:solidFill>
                <a:schemeClr val="bg1"/>
              </a:solidFill>
              <a:latin typeface="Everyday Sans" pitchFamily="50" charset="0"/>
            </a:endParaRPr>
          </a:p>
          <a:p>
            <a:pPr algn="ctr"/>
            <a:r>
              <a:rPr sz="600" b="1" i="0" dirty="0">
                <a:solidFill>
                  <a:schemeClr val="bg1"/>
                </a:solidFill>
                <a:latin typeface="Everyday Sans" pitchFamily="50" charset="0"/>
              </a:rPr>
              <a:t>SELECTED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0656" y="882396"/>
            <a:ext cx="694944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Everyday Sans" pitchFamily="50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99854" y="928116"/>
            <a:ext cx="173124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 i="0">
                <a:solidFill>
                  <a:schemeClr val="bg1"/>
                </a:solidFill>
                <a:latin typeface="Everyday Sans" pitchFamily="50" charset="0"/>
              </a:rPr>
              <a:t>ASM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52176" y="882396"/>
            <a:ext cx="804672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Everyday Sans" pitchFamily="50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11702" y="928116"/>
            <a:ext cx="32220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 i="0" dirty="0">
                <a:solidFill>
                  <a:schemeClr val="bg1"/>
                </a:solidFill>
                <a:latin typeface="Everyday Sans" pitchFamily="50" charset="0"/>
              </a:rPr>
              <a:t>P</a:t>
            </a:r>
            <a:r>
              <a:rPr lang="en-US" sz="600" b="1" dirty="0">
                <a:solidFill>
                  <a:schemeClr val="bg1"/>
                </a:solidFill>
                <a:latin typeface="Everyday Sans" pitchFamily="50" charset="0"/>
              </a:rPr>
              <a:t>HASE 1</a:t>
            </a:r>
          </a:p>
          <a:p>
            <a:pPr algn="ctr"/>
            <a:r>
              <a:rPr sz="600" b="1" i="0" dirty="0">
                <a:solidFill>
                  <a:schemeClr val="bg1"/>
                </a:solidFill>
                <a:latin typeface="Everyday Sans" pitchFamily="50" charset="0"/>
              </a:rPr>
              <a:t>GO-LIVE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93424" y="882396"/>
            <a:ext cx="530352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Everyday Sans" pitchFamily="50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69299" y="928116"/>
            <a:ext cx="415178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 i="0">
                <a:solidFill>
                  <a:schemeClr val="bg1"/>
                </a:solidFill>
                <a:latin typeface="Everyday Sans" pitchFamily="50" charset="0"/>
              </a:rPr>
              <a:t>DURATION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138428"/>
            <a:ext cx="11686032" cy="1905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801368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83401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65435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47468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32466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14500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96533" y="1175004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4320" y="1229868"/>
            <a:ext cx="820738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Carnesville, 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1421892"/>
            <a:ext cx="442429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Southeast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22323" y="1458010"/>
            <a:ext cx="1399232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21555" y="1458010"/>
            <a:ext cx="2324148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945704" y="1458010"/>
            <a:ext cx="560285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3229627" y="1436980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889012" y="1446124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84054" y="1584197"/>
            <a:ext cx="222818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latin typeface="Everyday Sans" pitchFamily="50" charset="0"/>
              </a:rPr>
              <a:t>ASM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1167" y="1464672"/>
            <a:ext cx="43601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May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4345" y="1464672"/>
            <a:ext cx="442429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May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3553" y="1464672"/>
            <a:ext cx="416781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Oct 2028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32944" y="1464672"/>
            <a:ext cx="306174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 dirty="0">
                <a:solidFill>
                  <a:srgbClr val="0053E2"/>
                </a:solidFill>
                <a:latin typeface="Everyday Sans" pitchFamily="50" charset="0"/>
              </a:rPr>
              <a:t>3</a:t>
            </a:r>
            <a:r>
              <a:rPr lang="en-US" sz="750" b="1" i="0" dirty="0">
                <a:solidFill>
                  <a:srgbClr val="0053E2"/>
                </a:solidFill>
                <a:latin typeface="Everyday Sans" pitchFamily="50" charset="0"/>
              </a:rPr>
              <a:t>Y</a:t>
            </a:r>
            <a:r>
              <a:rPr sz="750" b="1" i="0" dirty="0">
                <a:solidFill>
                  <a:srgbClr val="0053E2"/>
                </a:solidFill>
                <a:latin typeface="Everyday Sans" pitchFamily="50" charset="0"/>
              </a:rPr>
              <a:t> 11m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955509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801368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883401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965435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047468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132466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214500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296533" y="1955509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4320" y="2010373"/>
            <a:ext cx="663643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Buckeye, AZ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2202397"/>
            <a:ext cx="218008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West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3168" y="2238516"/>
            <a:ext cx="1132429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285598" y="2238516"/>
            <a:ext cx="2356758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42356" y="2238516"/>
            <a:ext cx="486173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34380" y="2217486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585664" y="2226630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788807" y="2364703"/>
            <a:ext cx="222818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latin typeface="Everyday Sans" pitchFamily="50" charset="0"/>
              </a:rPr>
              <a:t>ASM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9182" y="2245178"/>
            <a:ext cx="41998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Apr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9956" y="2245178"/>
            <a:ext cx="43120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Dec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74355" y="2245178"/>
            <a:ext cx="415178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Jun 2029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4166" y="2245178"/>
            <a:ext cx="283731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053E2"/>
                </a:solidFill>
                <a:latin typeface="Everyday Sans" pitchFamily="50" charset="0"/>
              </a:rPr>
              <a:t>3y 8m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36015"/>
            <a:ext cx="11686032" cy="780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74320" y="2736015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801368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883401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965435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047468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132466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214500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296533" y="2736015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74320" y="2790879"/>
            <a:ext cx="620363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Wallkill, NY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2982903"/>
            <a:ext cx="431208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Northeast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72923" y="3019022"/>
            <a:ext cx="2546484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5219408" y="3019022"/>
            <a:ext cx="2383438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602846" y="3019022"/>
            <a:ext cx="521747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499394" y="2997991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7546154" y="3007135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53821" y="3145209"/>
            <a:ext cx="222818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latin typeface="Everyday Sans" pitchFamily="50" charset="0"/>
              </a:rPr>
              <a:t>ASM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3190" y="3025684"/>
            <a:ext cx="411971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Oct 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75147" y="3025684"/>
            <a:ext cx="440826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Aug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56722" y="3025684"/>
            <a:ext cx="45044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May 2030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40960" y="3025684"/>
            <a:ext cx="29014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053E2"/>
                </a:solidFill>
                <a:latin typeface="Everyday Sans" pitchFamily="50" charset="0"/>
              </a:rPr>
              <a:t>5y 0m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3516521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801368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883401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965435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047468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132466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7214500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296533" y="3516521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74320" y="3571385"/>
            <a:ext cx="631583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Orlando, FL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3763409"/>
            <a:ext cx="442429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Southeast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50408" y="3799528"/>
            <a:ext cx="1523740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074149" y="3799528"/>
            <a:ext cx="2344900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419049" y="3799528"/>
            <a:ext cx="518783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394666" y="3778497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362357" y="3787641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349093" y="3925715"/>
            <a:ext cx="222818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latin typeface="Everyday Sans" pitchFamily="50" charset="0"/>
              </a:rPr>
              <a:t>ASM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88763" y="3806190"/>
            <a:ext cx="440826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Aug 2026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91978" y="3806190"/>
            <a:ext cx="40716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Jun 2027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63935" y="3806190"/>
            <a:ext cx="43601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Mar 2030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550578" y="3806190"/>
            <a:ext cx="27090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053E2"/>
                </a:solidFill>
                <a:latin typeface="Everyday Sans" pitchFamily="50" charset="0"/>
              </a:rPr>
              <a:t>4y 1m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297026"/>
            <a:ext cx="11686032" cy="780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274320" y="4297026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801368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883401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965435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047468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132466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7214500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8296533" y="4297026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74320" y="4351890"/>
            <a:ext cx="896079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Minneapolis, MN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" y="4543914"/>
            <a:ext cx="654025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Upper Midwest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550408" y="4580033"/>
            <a:ext cx="1523740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5074149" y="4580033"/>
            <a:ext cx="2344900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7419049" y="4580033"/>
            <a:ext cx="518783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4394666" y="4559003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7362357" y="4568147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349093" y="4706220"/>
            <a:ext cx="222818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latin typeface="Everyday Sans" pitchFamily="50" charset="0"/>
              </a:rPr>
              <a:t>ASM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88763" y="4586695"/>
            <a:ext cx="440826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Aug 2026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91978" y="4586695"/>
            <a:ext cx="40716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Jun 2027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763935" y="4586695"/>
            <a:ext cx="43601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Mar 2030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550578" y="4586695"/>
            <a:ext cx="27090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053E2"/>
                </a:solidFill>
                <a:latin typeface="Everyday Sans" pitchFamily="50" charset="0"/>
              </a:rPr>
              <a:t>4y 1m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5077532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801368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83401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3965435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5047468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6132466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214500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8296533" y="5077532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274320" y="5132396"/>
            <a:ext cx="609141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Denver, CO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320" y="5324420"/>
            <a:ext cx="644407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Mountain West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654165" y="5360539"/>
            <a:ext cx="1959518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5613683" y="5360539"/>
            <a:ext cx="2344900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958583" y="5360539"/>
            <a:ext cx="539534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477671" y="5339508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Everyday Sans" pitchFamily="50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901891" y="5348652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464158" y="5486726"/>
            <a:ext cx="158698" cy="846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50" b="1" i="0">
                <a:solidFill>
                  <a:srgbClr val="D02012"/>
                </a:solidFill>
                <a:latin typeface="Everyday Sans" pitchFamily="50" charset="0"/>
              </a:rPr>
              <a:t>ASM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93572" y="5367201"/>
            <a:ext cx="43120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Sep 2026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08008" y="5367201"/>
            <a:ext cx="37510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Jul 2027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62332" y="5367201"/>
            <a:ext cx="43922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Sep 2030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539357" y="5367201"/>
            <a:ext cx="293350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053E2"/>
                </a:solidFill>
                <a:latin typeface="Everyday Sans" pitchFamily="50" charset="0"/>
              </a:rPr>
              <a:t>4y 6m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4320" y="5858038"/>
            <a:ext cx="11686032" cy="780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274320" y="5858038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1801368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2883401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3965435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5047468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6132466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7214500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8296533" y="5858038"/>
            <a:ext cx="6350" cy="780505"/>
          </a:xfrm>
          <a:prstGeom prst="rect">
            <a:avLst/>
          </a:prstGeom>
          <a:solidFill>
            <a:srgbClr val="D8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74320" y="5912902"/>
            <a:ext cx="628377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41C2B"/>
                </a:solidFill>
                <a:latin typeface="Everyday Sans" pitchFamily="50" charset="0"/>
              </a:rPr>
              <a:t>Seattle, WA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4320" y="6104926"/>
            <a:ext cx="448841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2728A"/>
                </a:solidFill>
                <a:latin typeface="Everyday Sans" pitchFamily="50" charset="0"/>
              </a:rPr>
              <a:t>Pacific NW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4165" y="6141045"/>
            <a:ext cx="1959518" cy="89611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613683" y="6141045"/>
            <a:ext cx="2344900" cy="8961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7958583" y="6141045"/>
            <a:ext cx="539534" cy="896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4477671" y="6120014"/>
            <a:ext cx="131672" cy="1316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7901891" y="6129158"/>
            <a:ext cx="113384" cy="113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432098" y="6267232"/>
            <a:ext cx="222818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>
                <a:latin typeface="Everyday Sans" pitchFamily="50" charset="0"/>
              </a:rPr>
              <a:t>ASM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93572" y="6147707"/>
            <a:ext cx="43120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Sep 2026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008008" y="6147707"/>
            <a:ext cx="37510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Jul 2027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762332" y="6147707"/>
            <a:ext cx="439223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141C2B"/>
                </a:solidFill>
                <a:latin typeface="Everyday Sans" pitchFamily="50" charset="0"/>
              </a:rPr>
              <a:t>Sep 2030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539357" y="6147707"/>
            <a:ext cx="293350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053E2"/>
                </a:solidFill>
                <a:latin typeface="Everyday Sans" pitchFamily="50" charset="0"/>
              </a:rPr>
              <a:t>4y 6m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6638544"/>
            <a:ext cx="11686032" cy="1905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8903081" y="882396"/>
            <a:ext cx="6350" cy="5811012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913033" y="652721"/>
            <a:ext cx="164592" cy="914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4114201" y="616145"/>
            <a:ext cx="678071" cy="100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2728A"/>
                </a:solidFill>
                <a:latin typeface="Everyday Sans" pitchFamily="50" charset="0"/>
              </a:rPr>
              <a:t>Design &amp; Permits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302921" y="652721"/>
            <a:ext cx="164592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5504089" y="616145"/>
            <a:ext cx="519373" cy="100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2728A"/>
                </a:solidFill>
                <a:latin typeface="Everyday Sans" pitchFamily="50" charset="0"/>
              </a:rPr>
              <a:t>Construction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692809" y="652721"/>
            <a:ext cx="164592" cy="91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6893977" y="616145"/>
            <a:ext cx="392736" cy="100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2728A"/>
                </a:solidFill>
                <a:latin typeface="Everyday Sans" pitchFamily="50" charset="0"/>
              </a:rPr>
              <a:t>Ph1 → Ph2</a:t>
            </a:r>
          </a:p>
        </p:txBody>
      </p:sp>
      <p:sp>
        <p:nvSpPr>
          <p:cNvPr id="175" name="Oval 174"/>
          <p:cNvSpPr/>
          <p:nvPr/>
        </p:nvSpPr>
        <p:spPr>
          <a:xfrm>
            <a:off x="8082697" y="652721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8229001" y="616145"/>
            <a:ext cx="386324" cy="100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2728A"/>
                </a:solidFill>
                <a:latin typeface="Everyday Sans" pitchFamily="50" charset="0"/>
              </a:rPr>
              <a:t>ASM Date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6656832"/>
            <a:ext cx="11686032" cy="635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veryday Sans" pitchFamily="50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9924538" y="6693408"/>
            <a:ext cx="2035814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00" b="0" i="1">
                <a:solidFill>
                  <a:srgbClr val="62728A"/>
                </a:solidFill>
                <a:latin typeface="Everyday Sans" pitchFamily="50" charset="0"/>
              </a:rPr>
              <a:t>Source: NG Scheduling.xlsx  │  Dates subject to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143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Everyday Sans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Kourtney Miller</cp:lastModifiedBy>
  <cp:revision>1</cp:revision>
  <dcterms:created xsi:type="dcterms:W3CDTF">2013-01-27T09:14:16Z</dcterms:created>
  <dcterms:modified xsi:type="dcterms:W3CDTF">2026-04-24T16:00:01Z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2026-04-24T14:55:45Z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27726494-fbf4-48d0-9050-36aeb13ff096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