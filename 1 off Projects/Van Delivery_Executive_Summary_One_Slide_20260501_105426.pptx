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26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rtney Miller" userId="259b18c5-446d-4dd9-aa20-cb703c0c9350" providerId="ADAL" clId="{D18F23BD-F6F3-4FC7-9319-B364BE36A4F4}"/>
    <pc:docChg chg="custSel modSld">
      <pc:chgData name="Kourtney Miller" userId="259b18c5-446d-4dd9-aa20-cb703c0c9350" providerId="ADAL" clId="{D18F23BD-F6F3-4FC7-9319-B364BE36A4F4}" dt="2026-05-01T15:56:23.262" v="41" actId="1076"/>
      <pc:docMkLst>
        <pc:docMk/>
      </pc:docMkLst>
      <pc:sldChg chg="delSp modSp mod">
        <pc:chgData name="Kourtney Miller" userId="259b18c5-446d-4dd9-aa20-cb703c0c9350" providerId="ADAL" clId="{D18F23BD-F6F3-4FC7-9319-B364BE36A4F4}" dt="2026-05-01T15:56:23.262" v="41" actId="1076"/>
        <pc:sldMkLst>
          <pc:docMk/>
          <pc:sldMk cId="4145584140" sldId="256"/>
        </pc:sldMkLst>
        <pc:spChg chg="del">
          <ac:chgData name="Kourtney Miller" userId="259b18c5-446d-4dd9-aa20-cb703c0c9350" providerId="ADAL" clId="{D18F23BD-F6F3-4FC7-9319-B364BE36A4F4}" dt="2026-05-01T15:54:59.188" v="1" actId="478"/>
          <ac:spMkLst>
            <pc:docMk/>
            <pc:sldMk cId="4145584140" sldId="256"/>
            <ac:spMk id="2" creationId="{3ED3CD8D-3B5A-DF09-8E71-123FE9F0021A}"/>
          </ac:spMkLst>
        </pc:spChg>
        <pc:spChg chg="del">
          <ac:chgData name="Kourtney Miller" userId="259b18c5-446d-4dd9-aa20-cb703c0c9350" providerId="ADAL" clId="{D18F23BD-F6F3-4FC7-9319-B364BE36A4F4}" dt="2026-05-01T15:54:57.675" v="0" actId="478"/>
          <ac:spMkLst>
            <pc:docMk/>
            <pc:sldMk cId="4145584140" sldId="256"/>
            <ac:spMk id="3" creationId="{66782B9E-8644-B398-77C5-8D6F1D9F4CA3}"/>
          </ac:spMkLst>
        </pc:spChg>
        <pc:spChg chg="mod">
          <ac:chgData name="Kourtney Miller" userId="259b18c5-446d-4dd9-aa20-cb703c0c9350" providerId="ADAL" clId="{D18F23BD-F6F3-4FC7-9319-B364BE36A4F4}" dt="2026-05-01T15:55:35.782" v="33" actId="255"/>
          <ac:spMkLst>
            <pc:docMk/>
            <pc:sldMk cId="4145584140" sldId="256"/>
            <ac:spMk id="4" creationId="{500F5B4F-82DC-6A4E-A93D-C95B6D4CCCF3}"/>
          </ac:spMkLst>
        </pc:spChg>
        <pc:spChg chg="mod">
          <ac:chgData name="Kourtney Miller" userId="259b18c5-446d-4dd9-aa20-cb703c0c9350" providerId="ADAL" clId="{D18F23BD-F6F3-4FC7-9319-B364BE36A4F4}" dt="2026-05-01T15:55:57.607" v="36" actId="20577"/>
          <ac:spMkLst>
            <pc:docMk/>
            <pc:sldMk cId="4145584140" sldId="256"/>
            <ac:spMk id="5" creationId="{E97514C3-DB12-54F1-77FE-F1F55A76CCE7}"/>
          </ac:spMkLst>
        </pc:spChg>
        <pc:spChg chg="mod">
          <ac:chgData name="Kourtney Miller" userId="259b18c5-446d-4dd9-aa20-cb703c0c9350" providerId="ADAL" clId="{D18F23BD-F6F3-4FC7-9319-B364BE36A4F4}" dt="2026-05-01T15:56:05.245" v="38" actId="1076"/>
          <ac:spMkLst>
            <pc:docMk/>
            <pc:sldMk cId="4145584140" sldId="256"/>
            <ac:spMk id="6" creationId="{7977BA18-7533-A5D7-9F32-4BA73FCED89B}"/>
          </ac:spMkLst>
        </pc:spChg>
        <pc:spChg chg="mod">
          <ac:chgData name="Kourtney Miller" userId="259b18c5-446d-4dd9-aa20-cb703c0c9350" providerId="ADAL" clId="{D18F23BD-F6F3-4FC7-9319-B364BE36A4F4}" dt="2026-05-01T15:56:07.759" v="39" actId="1076"/>
          <ac:spMkLst>
            <pc:docMk/>
            <pc:sldMk cId="4145584140" sldId="256"/>
            <ac:spMk id="7" creationId="{13C3DD60-0383-A4A8-F43C-25E521C4EF49}"/>
          </ac:spMkLst>
        </pc:spChg>
        <pc:spChg chg="mod">
          <ac:chgData name="Kourtney Miller" userId="259b18c5-446d-4dd9-aa20-cb703c0c9350" providerId="ADAL" clId="{D18F23BD-F6F3-4FC7-9319-B364BE36A4F4}" dt="2026-05-01T15:55:29.082" v="32" actId="2711"/>
          <ac:spMkLst>
            <pc:docMk/>
            <pc:sldMk cId="4145584140" sldId="256"/>
            <ac:spMk id="9" creationId="{415E6367-437D-5E22-9006-4751EEED0E99}"/>
          </ac:spMkLst>
        </pc:spChg>
        <pc:spChg chg="mod">
          <ac:chgData name="Kourtney Miller" userId="259b18c5-446d-4dd9-aa20-cb703c0c9350" providerId="ADAL" clId="{D18F23BD-F6F3-4FC7-9319-B364BE36A4F4}" dt="2026-05-01T15:56:23.262" v="41" actId="1076"/>
          <ac:spMkLst>
            <pc:docMk/>
            <pc:sldMk cId="4145584140" sldId="256"/>
            <ac:spMk id="11" creationId="{36374D2D-C6FC-48E0-8017-F540A8973F5C}"/>
          </ac:spMkLst>
        </pc:spChg>
        <pc:spChg chg="mod">
          <ac:chgData name="Kourtney Miller" userId="259b18c5-446d-4dd9-aa20-cb703c0c9350" providerId="ADAL" clId="{D18F23BD-F6F3-4FC7-9319-B364BE36A4F4}" dt="2026-05-01T15:56:15.304" v="40" actId="1076"/>
          <ac:spMkLst>
            <pc:docMk/>
            <pc:sldMk cId="4145584140" sldId="256"/>
            <ac:spMk id="12" creationId="{74AAE4B6-D9D1-3415-062E-EF0E56C33A52}"/>
          </ac:spMkLst>
        </pc:spChg>
        <pc:spChg chg="mod">
          <ac:chgData name="Kourtney Miller" userId="259b18c5-446d-4dd9-aa20-cb703c0c9350" providerId="ADAL" clId="{D18F23BD-F6F3-4FC7-9319-B364BE36A4F4}" dt="2026-05-01T15:55:29.082" v="32" actId="2711"/>
          <ac:spMkLst>
            <pc:docMk/>
            <pc:sldMk cId="4145584140" sldId="256"/>
            <ac:spMk id="13" creationId="{7BA87BB3-D3F7-E188-2EC7-561E9CD6B9C3}"/>
          </ac:spMkLst>
        </pc:spChg>
        <pc:spChg chg="mod">
          <ac:chgData name="Kourtney Miller" userId="259b18c5-446d-4dd9-aa20-cb703c0c9350" providerId="ADAL" clId="{D18F23BD-F6F3-4FC7-9319-B364BE36A4F4}" dt="2026-05-01T15:55:29.082" v="32" actId="2711"/>
          <ac:spMkLst>
            <pc:docMk/>
            <pc:sldMk cId="4145584140" sldId="256"/>
            <ac:spMk id="14" creationId="{4AA61707-7427-3E56-BB0D-8C54E3DD8AFF}"/>
          </ac:spMkLst>
        </pc:spChg>
        <pc:spChg chg="mod">
          <ac:chgData name="Kourtney Miller" userId="259b18c5-446d-4dd9-aa20-cb703c0c9350" providerId="ADAL" clId="{D18F23BD-F6F3-4FC7-9319-B364BE36A4F4}" dt="2026-05-01T15:55:29.082" v="32" actId="2711"/>
          <ac:spMkLst>
            <pc:docMk/>
            <pc:sldMk cId="4145584140" sldId="256"/>
            <ac:spMk id="15" creationId="{E037F6A2-E697-845C-A86A-0F0BBA2EAF2A}"/>
          </ac:spMkLst>
        </pc:spChg>
        <pc:spChg chg="mod">
          <ac:chgData name="Kourtney Miller" userId="259b18c5-446d-4dd9-aa20-cb703c0c9350" providerId="ADAL" clId="{D18F23BD-F6F3-4FC7-9319-B364BE36A4F4}" dt="2026-05-01T15:55:29.082" v="32" actId="2711"/>
          <ac:spMkLst>
            <pc:docMk/>
            <pc:sldMk cId="4145584140" sldId="256"/>
            <ac:spMk id="16" creationId="{0C59B0AA-52FE-E39D-C5E0-5A0278363710}"/>
          </ac:spMkLst>
        </pc:spChg>
        <pc:spChg chg="mod">
          <ac:chgData name="Kourtney Miller" userId="259b18c5-446d-4dd9-aa20-cb703c0c9350" providerId="ADAL" clId="{D18F23BD-F6F3-4FC7-9319-B364BE36A4F4}" dt="2026-05-01T15:55:29.082" v="32" actId="2711"/>
          <ac:spMkLst>
            <pc:docMk/>
            <pc:sldMk cId="4145584140" sldId="256"/>
            <ac:spMk id="17" creationId="{18EC6495-CCF8-A969-A563-22F7F7A61E7F}"/>
          </ac:spMkLst>
        </pc:spChg>
        <pc:spChg chg="mod">
          <ac:chgData name="Kourtney Miller" userId="259b18c5-446d-4dd9-aa20-cb703c0c9350" providerId="ADAL" clId="{D18F23BD-F6F3-4FC7-9319-B364BE36A4F4}" dt="2026-05-01T15:55:29.082" v="32" actId="2711"/>
          <ac:spMkLst>
            <pc:docMk/>
            <pc:sldMk cId="4145584140" sldId="256"/>
            <ac:spMk id="18" creationId="{A2DC7CB9-F5BD-35CE-4706-D9FFA6BA4D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4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4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74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7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22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3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5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3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0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7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55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ED6A-EADF-4119-A80C-E71EC20ADA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044DA-8F38-42E9-B0E0-38121F3A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6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0F5B4F-82DC-6A4E-A93D-C95B6D4CCCF3}"/>
              </a:ext>
            </a:extLst>
          </p:cNvPr>
          <p:cNvSpPr txBox="1"/>
          <p:nvPr/>
        </p:nvSpPr>
        <p:spPr>
          <a:xfrm>
            <a:off x="355600" y="203200"/>
            <a:ext cx="11480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 dirty="0">
                <a:solidFill>
                  <a:srgbClr val="0053E2"/>
                </a:solidFill>
                <a:latin typeface="Everyday Sans" pitchFamily="2" charset="0"/>
              </a:rPr>
              <a:t>Carnesville Van Site Design: Key Requirements Aligned for Scale, Safety, and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514C3-DB12-54F1-77FE-F1F55A76CCE7}"/>
              </a:ext>
            </a:extLst>
          </p:cNvPr>
          <p:cNvSpPr txBox="1"/>
          <p:nvPr/>
        </p:nvSpPr>
        <p:spPr>
          <a:xfrm>
            <a:off x="301487" y="124915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dirty="0">
                <a:solidFill>
                  <a:srgbClr val="6B7280"/>
                </a:solidFill>
                <a:latin typeface="Everyday Sans" pitchFamily="2" charset="0"/>
              </a:rPr>
              <a:t>Summary of critical decision drivers from the Van Delivery design checklist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7BA18-7533-A5D7-9F32-4BA73FCED89B}"/>
              </a:ext>
            </a:extLst>
          </p:cNvPr>
          <p:cNvSpPr txBox="1"/>
          <p:nvPr/>
        </p:nvSpPr>
        <p:spPr>
          <a:xfrm>
            <a:off x="520700" y="1715002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0053E2"/>
                </a:solidFill>
                <a:latin typeface="Everyday Sans" pitchFamily="2" charset="0"/>
              </a:rPr>
              <a:t>Operations and Capacity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3DD60-0383-A4A8-F43C-25E521C4EF49}"/>
              </a:ext>
            </a:extLst>
          </p:cNvPr>
          <p:cNvSpPr txBox="1"/>
          <p:nvPr/>
        </p:nvSpPr>
        <p:spPr>
          <a:xfrm>
            <a:off x="520700" y="2075604"/>
            <a:ext cx="52578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Everyday Sans" pitchFamily="2" charset="0"/>
              </a:rPr>
              <a:t>Capacity</a:t>
            </a:r>
            <a:r>
              <a:rPr lang="en-US" sz="1600" dirty="0">
                <a:solidFill>
                  <a:srgbClr val="374151"/>
                </a:solidFill>
                <a:latin typeface="Everyday Sans" pitchFamily="2" charset="0"/>
              </a:rPr>
              <a:t> assumptions define Day 1 and full build-out readiness.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D87D6B-CC11-9EB2-F0D4-EFFC4A0FE381}"/>
              </a:ext>
            </a:extLst>
          </p:cNvPr>
          <p:cNvSpPr txBox="1"/>
          <p:nvPr/>
        </p:nvSpPr>
        <p:spPr>
          <a:xfrm>
            <a:off x="558800" y="2655959"/>
            <a:ext cx="52578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dirty="0">
                <a:solidFill>
                  <a:srgbClr val="374151"/>
                </a:solidFill>
                <a:latin typeface="Everyday Sans" pitchFamily="2" charset="0"/>
              </a:rPr>
              <a:t>Dispatch and dwell-time decisions align operating flow to peak demand.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E6367-437D-5E22-9006-4751EEED0E99}"/>
              </a:ext>
            </a:extLst>
          </p:cNvPr>
          <p:cNvSpPr txBox="1"/>
          <p:nvPr/>
        </p:nvSpPr>
        <p:spPr>
          <a:xfrm>
            <a:off x="482600" y="3138559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 dirty="0">
                <a:solidFill>
                  <a:srgbClr val="0053E2"/>
                </a:solidFill>
                <a:latin typeface="Everyday Sans" pitchFamily="2" charset="0"/>
              </a:rPr>
              <a:t>Site Design and 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3DB09-DD7E-1BF3-64FC-5F21D280C9A8}"/>
              </a:ext>
            </a:extLst>
          </p:cNvPr>
          <p:cNvSpPr txBox="1"/>
          <p:nvPr/>
        </p:nvSpPr>
        <p:spPr>
          <a:xfrm>
            <a:off x="558800" y="3468759"/>
            <a:ext cx="52578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dirty="0">
                <a:solidFill>
                  <a:srgbClr val="374151"/>
                </a:solidFill>
                <a:latin typeface="Everyday Sans" pitchFamily="2" charset="0"/>
              </a:rPr>
              <a:t>Circulation and loading strategy protects throughput and minimizes conflict points.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74D2D-C6FC-48E0-8017-F540A8973F5C}"/>
              </a:ext>
            </a:extLst>
          </p:cNvPr>
          <p:cNvSpPr txBox="1"/>
          <p:nvPr/>
        </p:nvSpPr>
        <p:spPr>
          <a:xfrm>
            <a:off x="444500" y="4094719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 dirty="0">
                <a:solidFill>
                  <a:srgbClr val="0053E2"/>
                </a:solidFill>
                <a:latin typeface="Everyday Sans" pitchFamily="2" charset="0"/>
              </a:rPr>
              <a:t>Safety and Access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AE4B6-D9D1-3415-062E-EF0E56C33A52}"/>
              </a:ext>
            </a:extLst>
          </p:cNvPr>
          <p:cNvSpPr txBox="1"/>
          <p:nvPr/>
        </p:nvSpPr>
        <p:spPr>
          <a:xfrm>
            <a:off x="520700" y="4451605"/>
            <a:ext cx="52578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Everyday Sans" pitchFamily="2" charset="0"/>
              </a:rPr>
              <a:t>Safety</a:t>
            </a:r>
            <a:r>
              <a:rPr lang="en-US" sz="1600" dirty="0">
                <a:solidFill>
                  <a:srgbClr val="374151"/>
                </a:solidFill>
                <a:latin typeface="Everyday Sans" pitchFamily="2" charset="0"/>
              </a:rPr>
              <a:t> is protected through separation of vans, trailers, and pedestrians.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A87BB3-D3F7-E188-2EC7-561E9CD6B9C3}"/>
              </a:ext>
            </a:extLst>
          </p:cNvPr>
          <p:cNvSpPr txBox="1"/>
          <p:nvPr/>
        </p:nvSpPr>
        <p:spPr>
          <a:xfrm>
            <a:off x="6451600" y="1970159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0053E2"/>
                </a:solidFill>
                <a:latin typeface="Everyday Sans" pitchFamily="2" charset="0"/>
              </a:rPr>
              <a:t>Infrastructure and EV Readiness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A61707-7427-3E56-BB0D-8C54E3DD8AFF}"/>
              </a:ext>
            </a:extLst>
          </p:cNvPr>
          <p:cNvSpPr txBox="1"/>
          <p:nvPr/>
        </p:nvSpPr>
        <p:spPr>
          <a:xfrm>
            <a:off x="6527800" y="2300359"/>
            <a:ext cx="52578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374151"/>
                </a:solidFill>
                <a:latin typeface="Everyday Sans" pitchFamily="2" charset="0"/>
              </a:rPr>
              <a:t>EV readiness</a:t>
            </a:r>
            <a:r>
              <a:rPr lang="en-US" sz="1600">
                <a:solidFill>
                  <a:srgbClr val="374151"/>
                </a:solidFill>
                <a:latin typeface="Everyday Sans" pitchFamily="2" charset="0"/>
              </a:rPr>
              <a:t> and utility capacity are aligned with Day 1 and future demand.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37F6A2-E697-845C-A86A-0F0BBA2EAF2A}"/>
              </a:ext>
            </a:extLst>
          </p:cNvPr>
          <p:cNvSpPr txBox="1"/>
          <p:nvPr/>
        </p:nvSpPr>
        <p:spPr>
          <a:xfrm>
            <a:off x="6527800" y="2655959"/>
            <a:ext cx="52578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74151"/>
                </a:solidFill>
                <a:latin typeface="Everyday Sans" pitchFamily="2" charset="0"/>
              </a:rPr>
              <a:t>Power and equipment space planning avoids downstream redesign risk.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59B0AA-52FE-E39D-C5E0-5A0278363710}"/>
              </a:ext>
            </a:extLst>
          </p:cNvPr>
          <p:cNvSpPr txBox="1"/>
          <p:nvPr/>
        </p:nvSpPr>
        <p:spPr>
          <a:xfrm>
            <a:off x="6451600" y="3138559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0053E2"/>
                </a:solidFill>
                <a:latin typeface="Everyday Sans" pitchFamily="2" charset="0"/>
              </a:rPr>
              <a:t>Scalability and Cost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EC6495-CCF8-A969-A563-22F7F7A61E7F}"/>
              </a:ext>
            </a:extLst>
          </p:cNvPr>
          <p:cNvSpPr txBox="1"/>
          <p:nvPr/>
        </p:nvSpPr>
        <p:spPr>
          <a:xfrm>
            <a:off x="6527800" y="3468759"/>
            <a:ext cx="52578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74151"/>
                </a:solidFill>
                <a:latin typeface="Everyday Sans" pitchFamily="2" charset="0"/>
              </a:rPr>
              <a:t>Expansion space is preserved while balancing </a:t>
            </a:r>
            <a:r>
              <a:rPr lang="en-US" sz="1600" b="1">
                <a:solidFill>
                  <a:srgbClr val="374151"/>
                </a:solidFill>
                <a:latin typeface="Everyday Sans" pitchFamily="2" charset="0"/>
              </a:rPr>
              <a:t>Cost</a:t>
            </a:r>
            <a:r>
              <a:rPr lang="en-US" sz="1600">
                <a:solidFill>
                  <a:srgbClr val="374151"/>
                </a:solidFill>
                <a:latin typeface="Everyday Sans" pitchFamily="2" charset="0"/>
              </a:rPr>
              <a:t> and throughput priorities.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DC7CB9-F5BD-35CE-4706-D9FFA6BA4DA4}"/>
              </a:ext>
            </a:extLst>
          </p:cNvPr>
          <p:cNvSpPr txBox="1"/>
          <p:nvPr/>
        </p:nvSpPr>
        <p:spPr>
          <a:xfrm>
            <a:off x="381000" y="66040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4B5563"/>
                </a:solidFill>
                <a:latin typeface="Everyday Sans" pitchFamily="2" charset="0"/>
              </a:rPr>
              <a:t>Decision focus: lock capacity, flow, safety, EV infrastructure, and expansion controls before design freeze.</a:t>
            </a:r>
          </a:p>
        </p:txBody>
      </p:sp>
    </p:spTree>
    <p:extLst>
      <p:ext uri="{BB962C8B-B14F-4D97-AF65-F5344CB8AC3E}">
        <p14:creationId xmlns:p14="http://schemas.microsoft.com/office/powerpoint/2010/main" val="4145584140"/>
      </p:ext>
    </p:extLst>
  </p:cSld>
  <p:clrMapOvr>
    <a:masterClrMapping/>
  </p:clrMapOvr>
</p:sld>
</file>

<file path=ppt/theme/theme1.xml><?xml version="1.0" encoding="utf-8"?>
<a:theme xmlns:a="http://schemas.openxmlformats.org/drawingml/2006/main" name="NextGen Timelines Comparison v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NextGen Timelines Comparison v3</Template>
  <TotalTime>1</TotalTime>
  <Words>143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Everyday Sans</vt:lpstr>
      <vt:lpstr>NextGen Timelines Comparison v3</vt:lpstr>
      <vt:lpstr>PowerPoint Presentation</vt:lpstr>
    </vt:vector>
  </TitlesOfParts>
  <Company>Walmart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Kourtney Miller</dc:creator>
  <cp:lastModifiedBy>Kourtney Miller</cp:lastModifiedBy>
  <cp:revision>1</cp:revision>
  <dcterms:created xsi:type="dcterms:W3CDTF">2026-05-01T15:54:24Z</dcterms:created>
  <dcterms:modified xsi:type="dcterms:W3CDTF">2026-05-01T15:56:24Z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2026-05-01T15:54:26Z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f62b1023-c4d6-48c9-8926-db7932e49545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