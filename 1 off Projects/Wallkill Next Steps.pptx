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9144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E60"/>
                </a:solidFill>
                <a:latin typeface="Everyday Sans"/>
              </a:rPr>
              <a:t>Wallkill Business Case —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57607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Everyday Sans"/>
              </a:rPr>
              <a:t>Clear owners and deadlines to complete the business case before the August governance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01984" y="91440"/>
            <a:ext cx="640080" cy="23774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01984" y="10058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Everyday Sans"/>
              </a:rPr>
              <a:t>Inform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11722608" y="64008"/>
            <a:ext cx="310896" cy="310896"/>
          </a:xfrm>
          <a:prstGeom prst="pentagon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914400"/>
            <a:ext cx="11603736" cy="13716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950976"/>
            <a:ext cx="11676888" cy="658368"/>
          </a:xfrm>
          <a:prstGeom prst="rect">
            <a:avLst/>
          </a:prstGeom>
          <a:solidFill>
            <a:srgbClr val="F4F6FA"/>
          </a:solidFill>
          <a:ln w="5080">
            <a:solidFill>
              <a:srgbClr val="4DB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1269187"/>
            <a:ext cx="11036808" cy="21945"/>
          </a:xfrm>
          <a:prstGeom prst="rect">
            <a:avLst/>
          </a:prstGeom>
          <a:solidFill>
            <a:srgbClr val="4DB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8348" y="1202436"/>
            <a:ext cx="155448" cy="155448"/>
          </a:xfrm>
          <a:prstGeom prst="ellipse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246888" y="9875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1E60"/>
                </a:solidFill>
                <a:latin typeface="Everyday Sans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46888" y="1371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Everyday Sans"/>
              </a:rPr>
              <a:t>Apr 28</a:t>
            </a:r>
          </a:p>
        </p:txBody>
      </p:sp>
      <p:sp>
        <p:nvSpPr>
          <p:cNvPr id="15" name="Oval 14"/>
          <p:cNvSpPr/>
          <p:nvPr/>
        </p:nvSpPr>
        <p:spPr>
          <a:xfrm>
            <a:off x="2595341" y="1202436"/>
            <a:ext cx="155448" cy="1554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50105" y="9875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0000"/>
                </a:solidFill>
                <a:latin typeface="Everyday Sans"/>
              </a:rPr>
              <a:t>May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0105" y="1371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Everyday Sans"/>
              </a:rPr>
              <a:t>Strategy + Tariffs (GT)</a:t>
            </a:r>
          </a:p>
        </p:txBody>
      </p:sp>
      <p:sp>
        <p:nvSpPr>
          <p:cNvPr id="18" name="Oval 17"/>
          <p:cNvSpPr/>
          <p:nvPr/>
        </p:nvSpPr>
        <p:spPr>
          <a:xfrm>
            <a:off x="4913071" y="1202436"/>
            <a:ext cx="155448" cy="155448"/>
          </a:xfrm>
          <a:prstGeom prst="ellipse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7835" y="9875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1E60"/>
                </a:solidFill>
                <a:latin typeface="Everyday Sans"/>
              </a:rPr>
              <a:t>May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7835" y="1371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Everyday Sans"/>
              </a:rPr>
              <a:t>CapEx, Headwinds, Tariffs</a:t>
            </a:r>
          </a:p>
        </p:txBody>
      </p:sp>
      <p:sp>
        <p:nvSpPr>
          <p:cNvPr id="21" name="Oval 20"/>
          <p:cNvSpPr/>
          <p:nvPr/>
        </p:nvSpPr>
        <p:spPr>
          <a:xfrm>
            <a:off x="11535156" y="1202436"/>
            <a:ext cx="155448" cy="1554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9875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0000"/>
                </a:solidFill>
                <a:latin typeface="Everyday Sans"/>
              </a:rPr>
              <a:t>GOV. STARTS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1371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Everyday Sans"/>
              </a:rPr>
              <a:t>Jul 1,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48872" y="950976"/>
            <a:ext cx="384048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48872" y="104241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ASM
Aug 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1719072"/>
            <a:ext cx="3767328" cy="4892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1719072"/>
            <a:ext cx="3767328" cy="530352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1783080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Everyday Sans"/>
              </a:rPr>
              <a:t>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2048255"/>
            <a:ext cx="2852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Everyday Sans"/>
              </a:rPr>
              <a:t>Jack Anderson +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2029967"/>
            <a:ext cx="80467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2034539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1E60"/>
                </a:solidFill>
                <a:latin typeface="Everyday Sans"/>
              </a:rPr>
              <a:t>Due May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2286000"/>
            <a:ext cx="3621024" cy="13716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2322576"/>
            <a:ext cx="3602736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→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Working session</a:t>
            </a:r>
            <a:r>
              <a:rPr sz="1150">
                <a:solidFill>
                  <a:srgbClr val="001E60"/>
                </a:solidFill>
                <a:latin typeface="Everyday Sans"/>
              </a:rPr>
              <a:t> with Edgar, Jack &amp; team to align on go-forward approach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→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Build the ‘no Wallkill’ case:</a:t>
            </a:r>
            <a:r>
              <a:rPr sz="1150">
                <a:solidFill>
                  <a:srgbClr val="001E60"/>
                </a:solidFill>
                <a:latin typeface="Everyday Sans"/>
              </a:rPr>
              <a:t> how does the ecosystem perform without it?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→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Quantify the downside:</a:t>
            </a:r>
            <a:r>
              <a:rPr sz="1150">
                <a:solidFill>
                  <a:srgbClr val="001E60"/>
                </a:solidFill>
                <a:latin typeface="Everyday Sans"/>
              </a:rPr>
              <a:t> Northeast volume loss, coverage gap, and flywheel impact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→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Answer the hard question:</a:t>
            </a:r>
            <a:r>
              <a:rPr sz="1150">
                <a:solidFill>
                  <a:srgbClr val="001E60"/>
                </a:solidFill>
                <a:latin typeface="Everyday Sans"/>
              </a:rPr>
              <a:t> is not building Wallkill a viable option?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→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MTR controllership:</a:t>
            </a:r>
            <a:r>
              <a:rPr sz="1150">
                <a:solidFill>
                  <a:srgbClr val="001E60"/>
                </a:solidFill>
                <a:latin typeface="Everyday Sans"/>
              </a:rPr>
              <a:t> all shipped units should count — confirm definition with Adam/Barat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1668" y="1719072"/>
            <a:ext cx="3767328" cy="4892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1668" y="1719072"/>
            <a:ext cx="3767328" cy="5303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9684" y="1783080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Everyday Sans"/>
              </a:rPr>
              <a:t>Headwinds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9684" y="2048255"/>
            <a:ext cx="2852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Everyday Sans"/>
              </a:rPr>
              <a:t>Logan • Hari • Steve • Ary • Kourtney • Andrew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4596" y="2029967"/>
            <a:ext cx="80467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4596" y="2034539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0000"/>
                </a:solidFill>
                <a:latin typeface="Everyday Sans"/>
              </a:rPr>
              <a:t>May 1 • May 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74820" y="2286000"/>
            <a:ext cx="3621024" cy="13716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3108" y="2322576"/>
            <a:ext cx="3602736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⚠️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Tariffs (GT impact):</a:t>
            </a:r>
            <a:r>
              <a:rPr sz="1150">
                <a:solidFill>
                  <a:srgbClr val="001E60"/>
                </a:solidFill>
                <a:latin typeface="Everyday Sans"/>
              </a:rPr>
              <a:t> Hari to deliver assessment by May 1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⚠️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Tariffs (KNAPP + Eng):</a:t>
            </a:r>
            <a:r>
              <a:rPr sz="1150">
                <a:solidFill>
                  <a:srgbClr val="001E60"/>
                </a:solidFill>
                <a:latin typeface="Everyday Sans"/>
              </a:rPr>
              <a:t> Steve to deliver assessment by May 8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⚠️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Solar site constraints:</a:t>
            </a:r>
            <a:r>
              <a:rPr sz="1150">
                <a:solidFill>
                  <a:srgbClr val="001E60"/>
                </a:solidFill>
                <a:latin typeface="Everyday Sans"/>
              </a:rPr>
              <a:t> geotech, structural/steel &amp; wastewater — Logan/Andrew, May 8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⚠️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Energy IRR:</a:t>
            </a:r>
            <a:r>
              <a:rPr sz="1150">
                <a:solidFill>
                  <a:srgbClr val="001E60"/>
                </a:solidFill>
                <a:latin typeface="Everyday Sans"/>
              </a:rPr>
              <a:t> verify business case still tracking &gt;10% — Logan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⚠️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Transportation:</a:t>
            </a:r>
            <a:r>
              <a:rPr sz="1150">
                <a:solidFill>
                  <a:srgbClr val="001E60"/>
                </a:solidFill>
                <a:latin typeface="Everyday Sans"/>
              </a:rPr>
              <a:t> operational feasibility + updated costs + layout scenarios — Ary/Kourtney/Andrew, May 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47304" y="1719072"/>
            <a:ext cx="3767328" cy="4892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47304" y="1719072"/>
            <a:ext cx="3767328" cy="5303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1783080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Everyday Sans"/>
              </a:rPr>
              <a:t>Tailwinds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2048255"/>
            <a:ext cx="2852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Everyday Sans"/>
              </a:rPr>
              <a:t>Nicole • Adam • Barat • Kodi • Steve • Kourtney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00232" y="2029967"/>
            <a:ext cx="80467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00232" y="2034539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A8703"/>
                </a:solidFill>
                <a:latin typeface="Everyday Sans"/>
              </a:rPr>
              <a:t>Due May 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0456" y="2286000"/>
            <a:ext cx="3621024" cy="13716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38744" y="2322576"/>
            <a:ext cx="3602736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↑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CapEx pulse check:</a:t>
            </a:r>
            <a:r>
              <a:rPr sz="1150">
                <a:solidFill>
                  <a:srgbClr val="001E60"/>
                </a:solidFill>
                <a:latin typeface="Everyday Sans"/>
              </a:rPr>
              <a:t> 30% ROM construction pricing — Kodi/Andrew, May 8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↑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Capital spend timeline:</a:t>
            </a:r>
            <a:r>
              <a:rPr sz="1150">
                <a:solidFill>
                  <a:srgbClr val="001E60"/>
                </a:solidFill>
                <a:latin typeface="Everyday Sans"/>
              </a:rPr>
              <a:t> phasing, cash flow vs. plan, milestone gates — Steve/Andrew/Kourtney, May 8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↑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POD (Print on Demand):</a:t>
            </a:r>
            <a:r>
              <a:rPr sz="1150">
                <a:solidFill>
                  <a:srgbClr val="001E60"/>
                </a:solidFill>
                <a:latin typeface="Everyday Sans"/>
              </a:rPr>
              <a:t> confirm viability + quantify volume, cost &amp; margin — Nicole/Eric/Nick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↑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WFS flow shift:</a:t>
            </a:r>
            <a:r>
              <a:rPr sz="1150">
                <a:solidFill>
                  <a:srgbClr val="001E60"/>
                </a:solidFill>
                <a:latin typeface="Everyday Sans"/>
              </a:rPr>
              <a:t> clarify direct-to-store volume split — Adam/Barat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1E60"/>
                </a:solidFill>
                <a:latin typeface="Everyday Sans"/>
              </a:rPr>
              <a:t>↑  </a:t>
            </a:r>
            <a:r>
              <a:rPr sz="1150" b="1">
                <a:solidFill>
                  <a:srgbClr val="001E60"/>
                </a:solidFill>
                <a:latin typeface="Everyday Sans"/>
              </a:rPr>
              <a:t>Feed confirmed inputs</a:t>
            </a:r>
            <a:r>
              <a:rPr sz="1150">
                <a:solidFill>
                  <a:srgbClr val="001E60"/>
                </a:solidFill>
                <a:latin typeface="Everyday Sans"/>
              </a:rPr>
              <a:t> into updated IRR / NPV model once all assumptions locked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" y="6675120"/>
            <a:ext cx="11676888" cy="13716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" y="6720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  <a:latin typeface="Everyday Sans"/>
              </a:rPr>
              <a:t>PRIVATE AND CONFIDENTIAL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672084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CCCCC"/>
                </a:solidFill>
                <a:latin typeface="Everyday Sans"/>
              </a:rPr>
              <a:t>Wallkill, NY NextGen FC  •  Business Case  •  Apr 28,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