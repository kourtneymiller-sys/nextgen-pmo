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076"/>
            <a:ext cx="12188952" cy="5029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7724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NextGen Fulfillment Center — Timeline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109728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8C4FF"/>
                </a:solidFill>
              </a:rPr>
              <a:t>Sortable Fulfilment Strategy  |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1272" y="33832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1">
                <a:solidFill>
                  <a:srgbClr val="A8C4FF"/>
                </a:solidFill>
              </a:rPr>
              <a:t>Confidential —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772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1" i="0">
                <a:solidFill>
                  <a:srgbClr val="55657A"/>
                </a:solidFill>
              </a:rPr>
              <a:t>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777240"/>
            <a:ext cx="5532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1" i="0">
                <a:solidFill>
                  <a:srgbClr val="55657A"/>
                </a:solidFill>
              </a:rPr>
              <a:t>PROGRAM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3458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4733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6008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9615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0890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164" y="822960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55657A"/>
                </a:solidFill>
              </a:rPr>
              <a:t>2031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64208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5482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6757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8032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1639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22914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74188" y="1060704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1122465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Carnesville, 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1462151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Southeast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95388" y="1273008"/>
            <a:ext cx="1100826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96215" y="1273008"/>
            <a:ext cx="1828491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24707" y="1273008"/>
            <a:ext cx="440797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96232" y="1403277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" y="1832718"/>
            <a:ext cx="6995160" cy="772014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1832718"/>
            <a:ext cx="6995160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64208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15482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66757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18032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71639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22914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74188" y="183271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1894480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Buckeye, AZ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2234166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West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27718" y="2045022"/>
            <a:ext cx="890923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18641" y="2045022"/>
            <a:ext cx="1854146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72788" y="2045022"/>
            <a:ext cx="382490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272013" y="2175292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168" y="2604733"/>
            <a:ext cx="6995160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64208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15482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66757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18032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71639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22914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74188" y="260473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6032" y="2666494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Wallkill, 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" y="3006181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Northeast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49892" y="2817037"/>
            <a:ext cx="2003411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53303" y="2817037"/>
            <a:ext cx="1875136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28440" y="2817037"/>
            <a:ext cx="410477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008468" y="2947307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1168" y="3376748"/>
            <a:ext cx="6995160" cy="772014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1168" y="3376748"/>
            <a:ext cx="6995160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64208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15482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66757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18032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71639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22914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774188" y="337674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3438509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Orlando, FL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" y="3778196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Southeast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40241" y="3589052"/>
            <a:ext cx="1198781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39022" y="3589052"/>
            <a:ext cx="1844817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83840" y="3589052"/>
            <a:ext cx="408145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712810" y="3719322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1168" y="4148763"/>
            <a:ext cx="6995160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64208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15482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66757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18032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071639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22914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74188" y="414876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6032" y="4210524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Minneapolis, MN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6032" y="4550211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Upper Midwest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40241" y="4361067"/>
            <a:ext cx="1198781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39022" y="4361067"/>
            <a:ext cx="1844817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3840" y="4361067"/>
            <a:ext cx="408145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12810" y="4491336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01168" y="4920778"/>
            <a:ext cx="6995160" cy="772014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01168" y="4920778"/>
            <a:ext cx="6995160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64208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515482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366757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18032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071639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22914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774188" y="4920778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6032" y="4982539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Denver, CO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6032" y="5322226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Mountain West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21870" y="5133082"/>
            <a:ext cx="1541623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663493" y="5133082"/>
            <a:ext cx="1844817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508311" y="5133082"/>
            <a:ext cx="424471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778114" y="5263351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01168" y="5692793"/>
            <a:ext cx="6995160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64208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515482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366757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218032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71639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22914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774188" y="5692793"/>
            <a:ext cx="6350" cy="772014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56032" y="5754554"/>
            <a:ext cx="1389888" cy="401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Seattle, WA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032" y="6094240"/>
            <a:ext cx="1389888" cy="324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55657A"/>
                </a:solidFill>
              </a:rPr>
              <a:t>Pacific NW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121870" y="5905097"/>
            <a:ext cx="1541623" cy="34740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663493" y="5905097"/>
            <a:ext cx="1844817" cy="34740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508311" y="5905097"/>
            <a:ext cx="424471" cy="34740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778114" y="6035366"/>
            <a:ext cx="86868" cy="86868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01168" y="6464808"/>
            <a:ext cx="6995160" cy="9525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709928" y="6556248"/>
            <a:ext cx="164592" cy="11887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911096" y="6519672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657A"/>
                </a:solidFill>
              </a:rPr>
              <a:t>Design &amp; Permits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063240" y="6556248"/>
            <a:ext cx="164592" cy="11887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64408" y="6519672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657A"/>
                </a:solidFill>
              </a:rPr>
              <a:t>Construction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16552" y="6556248"/>
            <a:ext cx="164592" cy="1188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17720" y="6519672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657A"/>
                </a:solidFill>
              </a:rPr>
              <a:t>Ph1 → Ph2</a:t>
            </a:r>
          </a:p>
        </p:txBody>
      </p:sp>
      <p:sp>
        <p:nvSpPr>
          <p:cNvPr id="123" name="Oval 122"/>
          <p:cNvSpPr/>
          <p:nvPr/>
        </p:nvSpPr>
        <p:spPr>
          <a:xfrm>
            <a:off x="5769864" y="6565392"/>
            <a:ext cx="118872" cy="118872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934456" y="6519672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657A"/>
                </a:solidFill>
              </a:rPr>
              <a:t>ASM Date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360920" y="832104"/>
            <a:ext cx="12700" cy="586130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507224" y="777240"/>
            <a:ext cx="454456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1" i="0">
                <a:solidFill>
                  <a:srgbClr val="55657A"/>
                </a:solidFill>
              </a:rPr>
              <a:t>MILESTONE SUMMARY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507224" y="1060704"/>
            <a:ext cx="1298448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62088" y="1115568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Site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05672" y="1060704"/>
            <a:ext cx="66751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833104" y="1115568"/>
            <a:ext cx="6126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Site Selected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473184" y="1060704"/>
            <a:ext cx="62179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500616" y="1115568"/>
            <a:ext cx="56692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ASM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094976" y="1060704"/>
            <a:ext cx="66751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122408" y="1115568"/>
            <a:ext cx="6126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Go-live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762488" y="1060704"/>
            <a:ext cx="548640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789920" y="1115568"/>
            <a:ext cx="49377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507224" y="1335024"/>
            <a:ext cx="3803904" cy="3657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507224" y="1371600"/>
            <a:ext cx="1298448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571232" y="1408176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Carnesville, GA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805672" y="1371600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833104" y="1408176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May 2025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473184" y="1371600"/>
            <a:ext cx="62179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500616" y="1408176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May 2026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094976" y="1371600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122408" y="1408176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Oct 2028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762488" y="1371600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789920" y="1408176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~3y 11m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507224" y="2095282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507224" y="2104426"/>
            <a:ext cx="1298448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571232" y="2141002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Buckeye, AZ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805672" y="2104426"/>
            <a:ext cx="66751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833104" y="2141002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Apr 2026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473184" y="2104426"/>
            <a:ext cx="62179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500616" y="2141002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Dec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094976" y="2104426"/>
            <a:ext cx="66751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122408" y="2141002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Jun 2029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762488" y="2104426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789920" y="2141002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~3y 8m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07224" y="2828108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507224" y="2837252"/>
            <a:ext cx="1298448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571232" y="2873828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Wallkill, NY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805672" y="2837252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833104" y="2873828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Oct 2025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473184" y="2837252"/>
            <a:ext cx="62179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500616" y="2873828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Aug 2026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094976" y="2837252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122408" y="2873828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May 2030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762488" y="2837252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789920" y="2873828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~5y 0m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07224" y="3560934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07224" y="3570078"/>
            <a:ext cx="1298448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571232" y="3606654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Orlando, FL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5672" y="3570078"/>
            <a:ext cx="66751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833104" y="3606654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Aug 2026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473184" y="3570078"/>
            <a:ext cx="62179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00616" y="3606654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Jun 2027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094976" y="3570078"/>
            <a:ext cx="66751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122408" y="3606654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Mar 2030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762488" y="3570078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789920" y="3606654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~4y 1m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507224" y="4293761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507224" y="4302905"/>
            <a:ext cx="1298448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571232" y="4339481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Minneapolis, MN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805672" y="4302905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833104" y="4339481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Aug 2026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473184" y="4302905"/>
            <a:ext cx="62179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500616" y="4339481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Jun 2027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094976" y="4302905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122408" y="4339481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Mar 2030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762488" y="4302905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789920" y="4339481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~4y 1m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507224" y="5026587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507224" y="5035731"/>
            <a:ext cx="1298448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71232" y="5072307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Denver, CO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805672" y="5035731"/>
            <a:ext cx="66751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833104" y="5072307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Sep 2026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473184" y="5035731"/>
            <a:ext cx="62179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500616" y="5072307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Jul 2027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094976" y="5035731"/>
            <a:ext cx="667512" cy="723682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122408" y="5072307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Sep 2030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762488" y="5035731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789920" y="5072307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~4y 6m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507224" y="5759413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507224" y="5768557"/>
            <a:ext cx="1298448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571232" y="5805133"/>
            <a:ext cx="1170432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Seattle, WA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805672" y="5768557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833104" y="5805133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Sep 2026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473184" y="5768557"/>
            <a:ext cx="62179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500616" y="5805133"/>
            <a:ext cx="56692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Jul 2027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0094976" y="5768557"/>
            <a:ext cx="667512" cy="723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0122408" y="5805133"/>
            <a:ext cx="612648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Sep 2030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762488" y="5768557"/>
            <a:ext cx="548640" cy="723682"/>
          </a:xfrm>
          <a:prstGeom prst="rect">
            <a:avLst/>
          </a:prstGeom>
          <a:solidFill>
            <a:srgbClr val="E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789920" y="5805133"/>
            <a:ext cx="493776" cy="66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~4y 6m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507224" y="6492240"/>
            <a:ext cx="3803904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507224" y="6501384"/>
            <a:ext cx="3803904" cy="9525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507224" y="6556248"/>
            <a:ext cx="454456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55657A"/>
                </a:solidFill>
              </a:rPr>
              <a:t>Source: NG Scheduling.xlsx  │  Dates subject to change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01168" y="6693408"/>
            <a:ext cx="11786616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55657A"/>
                </a:solidFill>
              </a:rPr>
              <a:t>NextGen Fulfillment  │  PMO Program Management  │  Sortable Fulfilment Strategy  │  CONFIDENTIAL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01168" y="6675120"/>
            <a:ext cx="11786616" cy="635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