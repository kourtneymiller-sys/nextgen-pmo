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Everyday Sans"/>
              </a:rPr>
              <a:t>NextGen Fulfillment Center — Timeline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0C4E8"/>
                </a:solidFill>
                <a:latin typeface="Everyday Sans"/>
              </a:rPr>
              <a:t>Sortable Fulfillment Strategy  |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1089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1">
                <a:solidFill>
                  <a:srgbClr val="B0C4E8"/>
                </a:solidFill>
                <a:latin typeface="Everyday Sans"/>
              </a:rPr>
              <a:t>Confidential — Internal Use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88952" cy="3657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0" y="850392"/>
            <a:ext cx="201168" cy="12801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1" y="83210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Everyday Sans"/>
              </a:rPr>
              <a:t>Design &amp; Permits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850392"/>
            <a:ext cx="201168" cy="128016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83210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Everyday Sans"/>
              </a:rPr>
              <a:t>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850392"/>
            <a:ext cx="201168" cy="128016"/>
          </a:xfrm>
          <a:prstGeom prst="rect">
            <a:avLst/>
          </a:prstGeom>
          <a:solidFill>
            <a:srgbClr val="9E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83210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Everyday Sans"/>
              </a:rPr>
              <a:t>Ph1 → Ph2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850392"/>
            <a:ext cx="128016" cy="128016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8321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Everyday Sans"/>
              </a:rPr>
              <a:t>ASM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1097280"/>
            <a:ext cx="1691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555555"/>
                </a:solidFill>
                <a:latin typeface="Everyday Sans"/>
              </a:rPr>
              <a:t>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9754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5028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303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8413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3688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8962" y="10972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2031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8686800" cy="1764792"/>
          </a:xfrm>
          <a:prstGeom prst="rect">
            <a:avLst/>
          </a:prstGeom>
          <a:solidFill>
            <a:srgbClr val="F2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280160"/>
            <a:ext cx="8686800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044952"/>
            <a:ext cx="8686800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044952"/>
            <a:ext cx="8686800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809744"/>
            <a:ext cx="8686800" cy="1764792"/>
          </a:xfrm>
          <a:prstGeom prst="rect">
            <a:avLst/>
          </a:prstGeom>
          <a:solidFill>
            <a:srgbClr val="F2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809744"/>
            <a:ext cx="8686800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74536"/>
            <a:ext cx="8686800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0336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5611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50885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86159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24270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59544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94819" y="1280160"/>
            <a:ext cx="5486" cy="5294375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" y="148132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1E60"/>
                </a:solidFill>
                <a:latin typeface="Everyday Sans"/>
              </a:rPr>
              <a:t>Carnesville, 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" y="173736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Everyday Sans"/>
              </a:rPr>
              <a:t>Southeast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53189" y="2061972"/>
            <a:ext cx="1171420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24610" y="2061972"/>
            <a:ext cx="2223712" cy="20116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48322" y="2061972"/>
            <a:ext cx="536073" cy="201168"/>
          </a:xfrm>
          <a:prstGeom prst="rect">
            <a:avLst/>
          </a:prstGeom>
          <a:solidFill>
            <a:srgbClr val="9E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21169" y="2071115"/>
            <a:ext cx="182880" cy="1828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8289" y="2281427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555555"/>
                </a:solidFill>
                <a:latin typeface="Everyday Sans"/>
              </a:rPr>
              <a:t>ASM</a:t>
            </a:r>
          </a:p>
        </p:txBody>
      </p:sp>
      <p:sp>
        <p:nvSpPr>
          <p:cNvPr id="44" name="Oval 43"/>
          <p:cNvSpPr/>
          <p:nvPr/>
        </p:nvSpPr>
        <p:spPr>
          <a:xfrm>
            <a:off x="5656882" y="2071115"/>
            <a:ext cx="182880" cy="18288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1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" y="324612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1E60"/>
                </a:solidFill>
                <a:latin typeface="Everyday Sans"/>
              </a:rPr>
              <a:t>Buckeye, AZ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" y="350215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Everyday Sans"/>
              </a:rPr>
              <a:t>West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536" y="3826763"/>
            <a:ext cx="1171420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59956" y="3826763"/>
            <a:ext cx="2254912" cy="20116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4869" y="3826763"/>
            <a:ext cx="465164" cy="201168"/>
          </a:xfrm>
          <a:prstGeom prst="rect">
            <a:avLst/>
          </a:prstGeom>
          <a:solidFill>
            <a:srgbClr val="9E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99788" y="3835908"/>
            <a:ext cx="182880" cy="1828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6908" y="40462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555555"/>
                </a:solidFill>
                <a:latin typeface="Everyday Sans"/>
              </a:rPr>
              <a:t>ASM</a:t>
            </a:r>
          </a:p>
        </p:txBody>
      </p:sp>
      <p:sp>
        <p:nvSpPr>
          <p:cNvPr id="52" name="Oval 51"/>
          <p:cNvSpPr/>
          <p:nvPr/>
        </p:nvSpPr>
        <p:spPr>
          <a:xfrm>
            <a:off x="6323429" y="3835908"/>
            <a:ext cx="182880" cy="18288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1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" y="50109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1E60"/>
                </a:solidFill>
                <a:latin typeface="Everyday Sans"/>
              </a:rPr>
              <a:t>Wallkill, 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" y="526694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Everyday Sans"/>
              </a:rPr>
              <a:t>Northeast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30426" y="5591555"/>
            <a:ext cx="2322985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3412" y="5591555"/>
            <a:ext cx="2280439" cy="20116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33852" y="5591555"/>
            <a:ext cx="499200" cy="201168"/>
          </a:xfrm>
          <a:prstGeom prst="rect">
            <a:avLst/>
          </a:prstGeom>
          <a:solidFill>
            <a:srgbClr val="9E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79279" y="5600700"/>
            <a:ext cx="182880" cy="1828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96399" y="58110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555555"/>
                </a:solidFill>
                <a:latin typeface="Everyday Sans"/>
              </a:rPr>
              <a:t>ASM</a:t>
            </a:r>
          </a:p>
        </p:txBody>
      </p:sp>
      <p:sp>
        <p:nvSpPr>
          <p:cNvPr id="60" name="Oval 59"/>
          <p:cNvSpPr/>
          <p:nvPr/>
        </p:nvSpPr>
        <p:spPr>
          <a:xfrm>
            <a:off x="7242412" y="5600700"/>
            <a:ext cx="182880" cy="18288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1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26119" y="749808"/>
            <a:ext cx="12801" cy="5824727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32520" y="1280160"/>
            <a:ext cx="3383279" cy="1764792"/>
          </a:xfrm>
          <a:prstGeom prst="rect">
            <a:avLst/>
          </a:prstGeom>
          <a:solidFill>
            <a:srgbClr val="F2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32520" y="1280160"/>
            <a:ext cx="3383279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32520" y="3044952"/>
            <a:ext cx="3383279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32520" y="3044952"/>
            <a:ext cx="3383279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32520" y="4809744"/>
            <a:ext cx="3383279" cy="1764792"/>
          </a:xfrm>
          <a:prstGeom prst="rect">
            <a:avLst/>
          </a:prstGeom>
          <a:solidFill>
            <a:srgbClr val="F2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32520" y="4809744"/>
            <a:ext cx="3383279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32520" y="6574536"/>
            <a:ext cx="3383279" cy="10972"/>
          </a:xfrm>
          <a:prstGeom prst="rect">
            <a:avLst/>
          </a:prstGeom>
          <a:solidFill>
            <a:srgbClr val="D8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32520" y="1024127"/>
            <a:ext cx="3383279" cy="256032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59952" y="1060704"/>
            <a:ext cx="10058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SITE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8" y="1060704"/>
            <a:ext cx="60350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SITE SEL.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42448" y="1060704"/>
            <a:ext cx="5669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ASM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5952" y="1060704"/>
            <a:ext cx="5852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PH1 GO-LIVE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667744" y="1060704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Everyday Sans"/>
              </a:rPr>
              <a:t>DUR.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69096" y="1783080"/>
            <a:ext cx="98755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1E60"/>
                </a:solidFill>
                <a:latin typeface="Everyday Sans"/>
              </a:rPr>
              <a:t>Carnesville, GA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11512" y="1783080"/>
            <a:ext cx="585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May 2025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51592" y="1783080"/>
            <a:ext cx="548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May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55096" y="1783080"/>
            <a:ext cx="56692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Oct 2028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76888" y="1783080"/>
            <a:ext cx="420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053E2"/>
                </a:solidFill>
                <a:latin typeface="Everyday Sans"/>
              </a:rPr>
              <a:t>3y 3m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69096" y="3547872"/>
            <a:ext cx="98755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1E60"/>
                </a:solidFill>
                <a:latin typeface="Everyday Sans"/>
              </a:rPr>
              <a:t>Buckeye, AZ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1512" y="3547872"/>
            <a:ext cx="585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Apr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51592" y="3547872"/>
            <a:ext cx="548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Dec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55096" y="3547872"/>
            <a:ext cx="56692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Jun 2029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76888" y="3547872"/>
            <a:ext cx="420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053E2"/>
                </a:solidFill>
                <a:latin typeface="Everyday Sans"/>
              </a:rPr>
              <a:t>3y 4m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69096" y="5312664"/>
            <a:ext cx="98755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1E60"/>
                </a:solidFill>
                <a:latin typeface="Everyday Sans"/>
              </a:rPr>
              <a:t>Wallkill, NY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11512" y="5312664"/>
            <a:ext cx="585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Oct 2025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51592" y="5312664"/>
            <a:ext cx="548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Aug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55096" y="5312664"/>
            <a:ext cx="56692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Everyday Sans"/>
              </a:rPr>
              <a:t>May 2030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76888" y="5312664"/>
            <a:ext cx="420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053E2"/>
                </a:solidFill>
                <a:latin typeface="Everyday Sans"/>
              </a:rPr>
              <a:t>4y 5m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" y="663854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Everyday Sans"/>
              </a:rPr>
              <a:t>NextGen Fulfillment  |  PMO Program Management  |  Sortable Fulfillment Strategy  |  CONFIDENTIAL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0" y="6638544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Everyday Sans"/>
              </a:rPr>
              <a:t>Source: NG Scheduling.xlsx  |  Dates subject to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