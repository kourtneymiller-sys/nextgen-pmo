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029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Gen 2 OSR Burn Test  |  Funding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3035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AEE"/>
                </a:solidFill>
              </a:rPr>
              <a:t>NextGen Value Engineering  |  Decision Requested from Leadership  | 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109728"/>
            <a:ext cx="2194560" cy="69494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91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2B6E"/>
                </a:solidFill>
              </a:rPr>
              <a:t>$6.1M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4754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B6E"/>
                </a:solidFill>
              </a:rPr>
              <a:t>Net Benefit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033272"/>
            <a:ext cx="3749039" cy="5321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78223" y="1033272"/>
            <a:ext cx="3749039" cy="5321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91854" y="1033272"/>
            <a:ext cx="4206240" cy="5321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" y="1170432"/>
            <a:ext cx="3474719" cy="23774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170432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1463040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Fund a $2.2M OpEx burn test on Knapp Gen 2 OSR racking (Carnesville, GA) to validate the configuration and unlock ~$8.3M in CapEx savings across all 7 NextGen sites.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" y="2212848"/>
            <a:ext cx="3474719" cy="2377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212848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COST BREAKDOWN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505456"/>
            <a:ext cx="34747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UL Lab Time / Technical Report    $1.5M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2706624"/>
            <a:ext cx="34747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Knapp Test Racking                $0.6M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2907792"/>
            <a:ext cx="34747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Totes / Commodity                 $0.1M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" y="3145536"/>
            <a:ext cx="3474719" cy="2560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14553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OpEx Ask:   $2.2M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" y="3602736"/>
            <a:ext cx="3474719" cy="2377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3602736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CONFIDENCE /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895344"/>
            <a:ext cx="347471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5803D"/>
                </a:solidFill>
              </a:rPr>
              <a:t>+ High confidence: Gen 1 precedent passed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087368"/>
            <a:ext cx="347471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5803D"/>
                </a:solidFill>
              </a:rPr>
              <a:t>+ 4 test configurations evaluated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279392"/>
            <a:ext cx="347471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A1100"/>
                </a:solidFill>
              </a:rPr>
              <a:t>! Risk: If all fail, retest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471416"/>
            <a:ext cx="347471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A1100"/>
                </a:solidFill>
              </a:rPr>
              <a:t>! Savings valid only with Gen 2 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4663440"/>
            <a:ext cx="347471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  at ATL5 footprint + heights across sites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3" y="1170432"/>
            <a:ext cx="3474719" cy="237744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06823" y="1170432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ROI  /  SAVINGS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5383" y="1463040"/>
            <a:ext cx="3474719" cy="59436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15383" y="146304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5803D"/>
                </a:solidFill>
              </a:rPr>
              <a:t>~$8.3M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3" y="1856232"/>
            <a:ext cx="3474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74151"/>
                </a:solidFill>
              </a:rPr>
              <a:t>Total CapEx Savings (7 sites x $1.5M)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5383" y="2157984"/>
            <a:ext cx="3474719" cy="292608"/>
          </a:xfrm>
          <a:prstGeom prst="rect">
            <a:avLst/>
          </a:prstGeom>
          <a:solidFill>
            <a:srgbClr val="F5F8FF"/>
          </a:solidFill>
          <a:ln w="9525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59" y="2203704"/>
            <a:ext cx="384048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59" y="2194560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ATL5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1" y="21579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Atlanta, GA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3" y="2157984"/>
            <a:ext cx="34015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8703"/>
                </a:solidFill>
              </a:rPr>
              <a:t>$1.5M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5383" y="2450592"/>
            <a:ext cx="347471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59" y="2496312"/>
            <a:ext cx="384048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59" y="2487168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LGA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1" y="2450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Wallkill, NY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15383" y="2450592"/>
            <a:ext cx="34015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8703"/>
                </a:solidFill>
              </a:rPr>
              <a:t>$1.5M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15383" y="2743200"/>
            <a:ext cx="3474719" cy="292608"/>
          </a:xfrm>
          <a:prstGeom prst="rect">
            <a:avLst/>
          </a:prstGeom>
          <a:solidFill>
            <a:srgbClr val="F5F8FF"/>
          </a:solidFill>
          <a:ln w="9525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59" y="2788920"/>
            <a:ext cx="384048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59" y="2779776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0871" y="2743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Buckeye, AZ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15383" y="2743200"/>
            <a:ext cx="34015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8703"/>
                </a:solidFill>
              </a:rPr>
              <a:t>$1.5M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15383" y="3035808"/>
            <a:ext cx="347471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51959" y="3081528"/>
            <a:ext cx="384048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51959" y="3072384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90871" y="30358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Orlando, FL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15383" y="3035808"/>
            <a:ext cx="34015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8703"/>
                </a:solidFill>
              </a:rPr>
              <a:t>$1.5M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15383" y="3328416"/>
            <a:ext cx="3474719" cy="292608"/>
          </a:xfrm>
          <a:prstGeom prst="rect">
            <a:avLst/>
          </a:prstGeom>
          <a:solidFill>
            <a:srgbClr val="F5F8FF"/>
          </a:solidFill>
          <a:ln w="9525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51959" y="3374136"/>
            <a:ext cx="384048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51959" y="3364992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MSP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90871" y="33284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Minneapolis, MN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15383" y="3328416"/>
            <a:ext cx="34015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8703"/>
                </a:solidFill>
              </a:rPr>
              <a:t>$1.5M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15383" y="3621024"/>
            <a:ext cx="347471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51959" y="3666744"/>
            <a:ext cx="384048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51959" y="3657600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SEA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0871" y="36210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Seattle, WA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15383" y="3621024"/>
            <a:ext cx="34015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8703"/>
                </a:solidFill>
              </a:rPr>
              <a:t>$1.5M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15383" y="3913632"/>
            <a:ext cx="3474719" cy="292608"/>
          </a:xfrm>
          <a:prstGeom prst="rect">
            <a:avLst/>
          </a:prstGeom>
          <a:solidFill>
            <a:srgbClr val="F5F8FF"/>
          </a:solidFill>
          <a:ln w="9525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51959" y="3959352"/>
            <a:ext cx="384048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51959" y="3950208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90871" y="39136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Denver, CO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15383" y="3913632"/>
            <a:ext cx="34015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8703"/>
                </a:solidFill>
              </a:rPr>
              <a:t>$1.5M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15383" y="4261104"/>
            <a:ext cx="3474719" cy="274320"/>
          </a:xfrm>
          <a:prstGeom prst="rect">
            <a:avLst/>
          </a:prstGeom>
          <a:solidFill>
            <a:srgbClr val="DCFCE7"/>
          </a:solidFill>
          <a:ln w="9525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88535" y="4261104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</a:rPr>
              <a:t>Savings:  $8.3M    Cost:  ($2.2M)    NET:  $6.1M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29014" y="1170432"/>
            <a:ext cx="3931920" cy="23774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0454" y="11704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75902" y="1645920"/>
            <a:ext cx="25400" cy="457200"/>
          </a:xfrm>
          <a:prstGeom prst="rect">
            <a:avLst/>
          </a:prstGeom>
          <a:solidFill>
            <a:srgbClr val="C8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266174" y="1463040"/>
            <a:ext cx="182880" cy="1828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95358" y="144475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1100"/>
                </a:solidFill>
              </a:rPr>
              <a:t>June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58" y="1645920"/>
            <a:ext cx="3602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Funding approval needed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46918" y="14447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URGENT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19486" y="1453896"/>
            <a:ext cx="713232" cy="18288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19486" y="1453896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URGENT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75902" y="2286000"/>
            <a:ext cx="25400" cy="457200"/>
          </a:xfrm>
          <a:prstGeom prst="rect">
            <a:avLst/>
          </a:prstGeom>
          <a:solidFill>
            <a:srgbClr val="C8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266174" y="2103120"/>
            <a:ext cx="182880" cy="1828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95358" y="208483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3E2"/>
                </a:solidFill>
              </a:rPr>
              <a:t>Sept 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95358" y="2286000"/>
            <a:ext cx="3602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Burn test executed at UL Lab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75902" y="2926080"/>
            <a:ext cx="25400" cy="457200"/>
          </a:xfrm>
          <a:prstGeom prst="rect">
            <a:avLst/>
          </a:prstGeom>
          <a:solidFill>
            <a:srgbClr val="C8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266174" y="2743200"/>
            <a:ext cx="182880" cy="1828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95358" y="27249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3E2"/>
                </a:solidFill>
              </a:rPr>
              <a:t>Nov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95358" y="2926080"/>
            <a:ext cx="3602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Final report / results</a:t>
            </a:r>
          </a:p>
        </p:txBody>
      </p:sp>
      <p:sp>
        <p:nvSpPr>
          <p:cNvPr id="89" name="Oval 88"/>
          <p:cNvSpPr/>
          <p:nvPr/>
        </p:nvSpPr>
        <p:spPr>
          <a:xfrm>
            <a:off x="8266174" y="3383280"/>
            <a:ext cx="182880" cy="1828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95358" y="336499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A8703"/>
                </a:solidFill>
              </a:rPr>
              <a:t>Nov 2026+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95358" y="3566160"/>
            <a:ext cx="3602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Savings implemented at ATL5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129014" y="4114800"/>
            <a:ext cx="3931920" cy="2377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0454" y="41148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WHY NOW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74734" y="440740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Savings only valid with Gen 2 racking at same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74734" y="45902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footprint + heights as ATL5 across all 7 sites.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74734" y="47731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74734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Delay beyond June 2026 risks missing the Nov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74734" y="513892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results window needed to implement ATL5 savings.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446520"/>
            <a:ext cx="12188952" cy="384048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8600" y="6446520"/>
            <a:ext cx="117317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DECISION NEEDED:   What is the best path to fund $2.2M OpEx for the Gen 2 OSR burn test?   |   Requested by: Kourtney Miller   |   Original request: Andrew Skinkle, Sr PM Industrial Design &amp; Construction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