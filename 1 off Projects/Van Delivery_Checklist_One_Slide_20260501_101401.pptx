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DE835-228A-4AD5-A3E6-E648C8AC575E}" v="24" dt="2026-05-01T15:31:15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10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rtney Miller" userId="259b18c5-446d-4dd9-aa20-cb703c0c9350" providerId="ADAL" clId="{D18F23BD-F6F3-4FC7-9319-B364BE36A4F4}"/>
    <pc:docChg chg="undo custSel modSld">
      <pc:chgData name="Kourtney Miller" userId="259b18c5-446d-4dd9-aa20-cb703c0c9350" providerId="ADAL" clId="{D18F23BD-F6F3-4FC7-9319-B364BE36A4F4}" dt="2026-05-01T15:32:37.371" v="163" actId="313"/>
      <pc:docMkLst>
        <pc:docMk/>
      </pc:docMkLst>
      <pc:sldChg chg="delSp modSp mod">
        <pc:chgData name="Kourtney Miller" userId="259b18c5-446d-4dd9-aa20-cb703c0c9350" providerId="ADAL" clId="{D18F23BD-F6F3-4FC7-9319-B364BE36A4F4}" dt="2026-05-01T15:32:37.371" v="163" actId="313"/>
        <pc:sldMkLst>
          <pc:docMk/>
          <pc:sldMk cId="1512139907" sldId="256"/>
        </pc:sldMkLst>
        <pc:spChg chg="del">
          <ac:chgData name="Kourtney Miller" userId="259b18c5-446d-4dd9-aa20-cb703c0c9350" providerId="ADAL" clId="{D18F23BD-F6F3-4FC7-9319-B364BE36A4F4}" dt="2026-05-01T15:14:37.503" v="3" actId="478"/>
          <ac:spMkLst>
            <pc:docMk/>
            <pc:sldMk cId="1512139907" sldId="256"/>
            <ac:spMk id="2" creationId="{67D1C438-3596-17F3-B931-B4453F181755}"/>
          </ac:spMkLst>
        </pc:spChg>
        <pc:spChg chg="del">
          <ac:chgData name="Kourtney Miller" userId="259b18c5-446d-4dd9-aa20-cb703c0c9350" providerId="ADAL" clId="{D18F23BD-F6F3-4FC7-9319-B364BE36A4F4}" dt="2026-05-01T15:14:45.150" v="4" actId="478"/>
          <ac:spMkLst>
            <pc:docMk/>
            <pc:sldMk cId="1512139907" sldId="256"/>
            <ac:spMk id="3" creationId="{D362CC49-5ACD-9714-0BCC-36BBF2F959B5}"/>
          </ac:spMkLst>
        </pc:spChg>
        <pc:spChg chg="mod">
          <ac:chgData name="Kourtney Miller" userId="259b18c5-446d-4dd9-aa20-cb703c0c9350" providerId="ADAL" clId="{D18F23BD-F6F3-4FC7-9319-B364BE36A4F4}" dt="2026-05-01T15:32:37.371" v="163" actId="313"/>
          <ac:spMkLst>
            <pc:docMk/>
            <pc:sldMk cId="1512139907" sldId="256"/>
            <ac:spMk id="4" creationId="{248EC444-F726-E932-1AA0-5FC580B82536}"/>
          </ac:spMkLst>
        </pc:spChg>
        <pc:spChg chg="del mod">
          <ac:chgData name="Kourtney Miller" userId="259b18c5-446d-4dd9-aa20-cb703c0c9350" providerId="ADAL" clId="{D18F23BD-F6F3-4FC7-9319-B364BE36A4F4}" dt="2026-05-01T15:32:18.848" v="121" actId="478"/>
          <ac:spMkLst>
            <pc:docMk/>
            <pc:sldMk cId="1512139907" sldId="256"/>
            <ac:spMk id="5" creationId="{1A9597A8-FB9C-0F35-6953-2C18280146BB}"/>
          </ac:spMkLst>
        </pc:spChg>
        <pc:spChg chg="mod">
          <ac:chgData name="Kourtney Miller" userId="259b18c5-446d-4dd9-aa20-cb703c0c9350" providerId="ADAL" clId="{D18F23BD-F6F3-4FC7-9319-B364BE36A4F4}" dt="2026-05-01T15:32:24.184" v="142" actId="1035"/>
          <ac:spMkLst>
            <pc:docMk/>
            <pc:sldMk cId="1512139907" sldId="256"/>
            <ac:spMk id="6" creationId="{A1C37ABC-BBB6-B31E-5F05-75AE412544B0}"/>
          </ac:spMkLst>
        </pc:spChg>
        <pc:spChg chg="mod">
          <ac:chgData name="Kourtney Miller" userId="259b18c5-446d-4dd9-aa20-cb703c0c9350" providerId="ADAL" clId="{D18F23BD-F6F3-4FC7-9319-B364BE36A4F4}" dt="2026-05-01T15:32:24.184" v="142" actId="1035"/>
          <ac:spMkLst>
            <pc:docMk/>
            <pc:sldMk cId="1512139907" sldId="256"/>
            <ac:spMk id="7" creationId="{57DA2A73-1556-D24A-3847-081223B0276B}"/>
          </ac:spMkLst>
        </pc:spChg>
        <pc:spChg chg="mod">
          <ac:chgData name="Kourtney Miller" userId="259b18c5-446d-4dd9-aa20-cb703c0c9350" providerId="ADAL" clId="{D18F23BD-F6F3-4FC7-9319-B364BE36A4F4}" dt="2026-05-01T15:32:24.184" v="142" actId="1035"/>
          <ac:spMkLst>
            <pc:docMk/>
            <pc:sldMk cId="1512139907" sldId="256"/>
            <ac:spMk id="8" creationId="{D26178FB-24F9-6EE0-5F4E-5598A365F763}"/>
          </ac:spMkLst>
        </pc:spChg>
        <pc:spChg chg="mod">
          <ac:chgData name="Kourtney Miller" userId="259b18c5-446d-4dd9-aa20-cb703c0c9350" providerId="ADAL" clId="{D18F23BD-F6F3-4FC7-9319-B364BE36A4F4}" dt="2026-05-01T15:32:24.184" v="142" actId="1035"/>
          <ac:spMkLst>
            <pc:docMk/>
            <pc:sldMk cId="1512139907" sldId="256"/>
            <ac:spMk id="9" creationId="{C33FCEBB-A121-494A-8142-EA56FD68C168}"/>
          </ac:spMkLst>
        </pc:spChg>
        <pc:spChg chg="mod">
          <ac:chgData name="Kourtney Miller" userId="259b18c5-446d-4dd9-aa20-cb703c0c9350" providerId="ADAL" clId="{D18F23BD-F6F3-4FC7-9319-B364BE36A4F4}" dt="2026-05-01T15:32:24.184" v="142" actId="1035"/>
          <ac:spMkLst>
            <pc:docMk/>
            <pc:sldMk cId="1512139907" sldId="256"/>
            <ac:spMk id="10" creationId="{965DB4EB-F2FC-8FEB-A578-4571E0C2F2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6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6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3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3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9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2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4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1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E7AF8-DD69-472C-BC01-6B1741D5E0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B2826-D594-4427-B434-2E7668C89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9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8EC444-F726-E932-1AA0-5FC580B82536}"/>
              </a:ext>
            </a:extLst>
          </p:cNvPr>
          <p:cNvSpPr txBox="1"/>
          <p:nvPr/>
        </p:nvSpPr>
        <p:spPr>
          <a:xfrm>
            <a:off x="355600" y="203200"/>
            <a:ext cx="11480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 dirty="0">
                <a:solidFill>
                  <a:srgbClr val="0053E2"/>
                </a:solidFill>
                <a:latin typeface="Everyday Sans" pitchFamily="2" charset="0"/>
              </a:rPr>
              <a:t>Construction Van Delivery Site Design Checklist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37ABC-BBB6-B31E-5F05-75AE412544B0}"/>
              </a:ext>
            </a:extLst>
          </p:cNvPr>
          <p:cNvSpPr/>
          <p:nvPr/>
        </p:nvSpPr>
        <p:spPr>
          <a:xfrm>
            <a:off x="381000" y="720880"/>
            <a:ext cx="5588000" cy="5588000"/>
          </a:xfrm>
          <a:prstGeom prst="rect">
            <a:avLst/>
          </a:prstGeom>
          <a:gradFill flip="none" rotWithShape="1">
            <a:gsLst>
              <a:gs pos="0">
                <a:srgbClr val="F7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Everyday Sans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A2A73-1556-D24A-3847-081223B0276B}"/>
              </a:ext>
            </a:extLst>
          </p:cNvPr>
          <p:cNvSpPr/>
          <p:nvPr/>
        </p:nvSpPr>
        <p:spPr>
          <a:xfrm>
            <a:off x="6159500" y="720880"/>
            <a:ext cx="5461000" cy="5588000"/>
          </a:xfrm>
          <a:prstGeom prst="rect">
            <a:avLst/>
          </a:prstGeom>
          <a:gradFill flip="none" rotWithShape="1">
            <a:gsLst>
              <a:gs pos="0">
                <a:srgbClr val="F7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Everyda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178FB-24F9-6EE0-5F4E-5598A365F763}"/>
              </a:ext>
            </a:extLst>
          </p:cNvPr>
          <p:cNvSpPr txBox="1"/>
          <p:nvPr/>
        </p:nvSpPr>
        <p:spPr>
          <a:xfrm>
            <a:off x="533400" y="776681"/>
            <a:ext cx="5435600" cy="57861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1) Operational Requirements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 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Delivery model defined (last-mile, grocery, parcel, mixed)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 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Peak van count (daily / per wave) captured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2) Site Layout &amp; Circulation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 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Total van stalls (Day 1) defined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</a:t>
            </a: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Total van stalls (Full build-out) defined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3) Building Interface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</a:t>
            </a: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Van loading strategy (dedicated doors/shared doors)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 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Distance from parking to load point (optimized)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4) Parking &amp; Stall Design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</a:t>
            </a: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Van dimensions (turn radius confirmation needed)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 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Stall layout selected (90° or angled)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5) EV Readiness (Disclaimer: EV parking and/or charging must be 50+ feet away from the building)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</a:t>
            </a: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% EV fleet (Day 1) defined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</a:t>
            </a: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% EV fleet (Future) defined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6) Utilities &amp; Infrastructure</a:t>
            </a:r>
            <a:endParaRPr lang="en-US" sz="1400" dirty="0">
              <a:solidFill>
                <a:srgbClr val="2D2D2D"/>
              </a:solidFill>
              <a:latin typeface="Everyday Sans" pitchFamily="2" charset="0"/>
            </a:endParaRP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Electrical capacity confirmed (building + EV)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Utility upgrades required?</a:t>
            </a:r>
          </a:p>
          <a:p>
            <a:pPr>
              <a:spcAft>
                <a:spcPts val="600"/>
              </a:spcAft>
            </a:pPr>
            <a:endParaRPr lang="en-US" sz="1400" dirty="0">
              <a:solidFill>
                <a:srgbClr val="2D2D2D"/>
              </a:solidFill>
              <a:latin typeface="Everyday 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FCEBB-A121-494A-8142-EA56FD68C168}"/>
              </a:ext>
            </a:extLst>
          </p:cNvPr>
          <p:cNvSpPr txBox="1"/>
          <p:nvPr/>
        </p:nvSpPr>
        <p:spPr>
          <a:xfrm>
            <a:off x="6311900" y="825556"/>
            <a:ext cx="5346700" cy="46166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7) Safety &amp; Separation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Vans separated from trailer operations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Pedestrian pathways clearly defined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8) Security &amp; Access Control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Controlled access points defined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Driver access process clarified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9) Climate &amp; Weather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Snow/ice plan (plowing, stacking areas) (Ramped areas especially need to be considered)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Heat mitigation considered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10) Scalability &amp; Future Expansion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Expansion capacity for van parking preserved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EV infrastructure scalable without rework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3E2"/>
                </a:solidFill>
                <a:latin typeface="Everyday Sans" pitchFamily="2" charset="0"/>
              </a:rPr>
              <a:t>11) Cost &amp; Tradeoff Alignment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</a:t>
            </a: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Throughput vs cost priorities aligned with stakeholders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 </a:t>
            </a:r>
            <a:r>
              <a:rPr lang="en-US" sz="1400" dirty="0"/>
              <a:t>✅</a:t>
            </a:r>
            <a:r>
              <a:rPr lang="en-US" sz="1400" dirty="0">
                <a:solidFill>
                  <a:srgbClr val="2D2D2D"/>
                </a:solidFill>
                <a:latin typeface="Everyday Sans" pitchFamily="2" charset="0"/>
              </a:rPr>
              <a:t>Covered vs open-air decision finalized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5DB4EB-F2FC-8FEB-A578-4571E0C2F2C8}"/>
              </a:ext>
            </a:extLst>
          </p:cNvPr>
          <p:cNvSpPr txBox="1"/>
          <p:nvPr/>
        </p:nvSpPr>
        <p:spPr>
          <a:xfrm>
            <a:off x="381000" y="638508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E6E6E"/>
                </a:solidFill>
                <a:latin typeface="Everyday Sans" pitchFamily="2" charset="0"/>
              </a:rPr>
              <a:t>Use this as a working checklist for Construction design reviews and space-protection validation.</a:t>
            </a:r>
          </a:p>
        </p:txBody>
      </p:sp>
    </p:spTree>
    <p:extLst>
      <p:ext uri="{BB962C8B-B14F-4D97-AF65-F5344CB8AC3E}">
        <p14:creationId xmlns:p14="http://schemas.microsoft.com/office/powerpoint/2010/main" val="1512139907"/>
      </p:ext>
    </p:extLst>
  </p:cSld>
  <p:clrMapOvr>
    <a:masterClrMapping/>
  </p:clrMapOvr>
</p:sld>
</file>

<file path=ppt/theme/theme1.xml><?xml version="1.0" encoding="utf-8"?>
<a:theme xmlns:a="http://schemas.openxmlformats.org/drawingml/2006/main" name="NextGen Timelines Comparison v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NextGen Timelines Comparison v3</Template>
  <TotalTime>18</TotalTime>
  <Words>293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Everyday Sans</vt:lpstr>
      <vt:lpstr>NextGen Timelines Comparison v3</vt:lpstr>
      <vt:lpstr>PowerPoint Presentation</vt:lpstr>
    </vt:vector>
  </TitlesOfParts>
  <Company>Walmart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Kourtney Miller</dc:creator>
  <cp:lastModifiedBy>Kourtney Miller</cp:lastModifiedBy>
  <cp:revision>1</cp:revision>
  <dcterms:created xsi:type="dcterms:W3CDTF">2026-05-01T15:13:59Z</dcterms:created>
  <dcterms:modified xsi:type="dcterms:W3CDTF">2026-05-01T15:32:45Z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2026-05-01T15:14:01Z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386ad9d3-d339-4754-8466-bcdba7f4e56e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